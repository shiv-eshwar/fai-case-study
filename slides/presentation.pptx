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2000">
                <a:latin typeface="Calibri"/>
              </a:defRPr>
            </a:pPr>
            <a:r>
              <a:t>Safe completion rate</a:t>
            </a:r>
          </a:p>
        </c:rich>
      </c:tx>
      <c:layout/>
      <c:overlay val="0"/>
    </c:title>
    <c:autoTitleDeleted val="0"/>
    <c:plotArea>
      <c:lineChart>
        <c:grouping val="standard"/>
        <c:varyColors val="0"/>
        <c:ser>
          <c:idx val="0"/>
          <c:order val="0"/>
          <c:tx>
            <c:strRef>
              <c:f>Sheet1!$B$1</c:f>
              <c:strCache>
                <c:ptCount val="1"/>
                <c:pt idx="0">
                  <c:v>independent</c:v>
                </c:pt>
              </c:strCache>
            </c:strRef>
          </c:tx>
          <c:cat>
            <c:strRef>
              <c:f>Sheet1!$A$2:$A$5</c:f>
              <c:strCache>
                <c:ptCount val="4"/>
                <c:pt idx="0">
                  <c:v>2</c:v>
                </c:pt>
                <c:pt idx="1">
                  <c:v>4</c:v>
                </c:pt>
                <c:pt idx="2">
                  <c:v>6</c:v>
                </c:pt>
                <c:pt idx="3">
                  <c:v>8</c:v>
                </c:pt>
              </c:strCache>
            </c:strRef>
          </c:cat>
          <c:val>
            <c:numRef>
              <c:f>Sheet1!$B$2:$B$5</c:f>
              <c:numCache>
                <c:formatCode>General</c:formatCode>
                <c:ptCount val="4"/>
                <c:pt idx="0">
                  <c:v>1.0</c:v>
                </c:pt>
                <c:pt idx="1">
                  <c:v>0.8</c:v>
                </c:pt>
                <c:pt idx="2">
                  <c:v>0.2</c:v>
                </c:pt>
                <c:pt idx="3">
                  <c:v>0.0</c:v>
                </c:pt>
              </c:numCache>
            </c:numRef>
          </c:val>
          <c:smooth val="0"/>
        </c:ser>
        <c:ser>
          <c:idx val="1"/>
          <c:order val="1"/>
          <c:tx>
            <c:strRef>
              <c:f>Sheet1!$C$1</c:f>
              <c:strCache>
                <c:ptCount val="1"/>
                <c:pt idx="0">
                  <c:v>fixed</c:v>
                </c:pt>
              </c:strCache>
            </c:strRef>
          </c:tx>
          <c:cat>
            <c:strRef>
              <c:f>Sheet1!$A$2:$A$5</c:f>
              <c:strCache>
                <c:ptCount val="4"/>
                <c:pt idx="0">
                  <c:v>2</c:v>
                </c:pt>
                <c:pt idx="1">
                  <c:v>4</c:v>
                </c:pt>
                <c:pt idx="2">
                  <c:v>6</c:v>
                </c:pt>
                <c:pt idx="3">
                  <c:v>8</c:v>
                </c:pt>
              </c:strCache>
            </c:strRef>
          </c:cat>
          <c:val>
            <c:numRef>
              <c:f>Sheet1!$C$2:$C$5</c:f>
              <c:numCache>
                <c:formatCode>General</c:formatCode>
                <c:ptCount val="4"/>
                <c:pt idx="0">
                  <c:v>1.0</c:v>
                </c:pt>
                <c:pt idx="1">
                  <c:v>1.0</c:v>
                </c:pt>
                <c:pt idx="2">
                  <c:v>1.0</c:v>
                </c:pt>
                <c:pt idx="3">
                  <c:v>1.0</c:v>
                </c:pt>
              </c:numCache>
            </c:numRef>
          </c:val>
          <c:smooth val="0"/>
        </c:ser>
        <c:ser>
          <c:idx val="2"/>
          <c:order val="2"/>
          <c:tx>
            <c:strRef>
              <c:f>Sheet1!$D$1</c:f>
              <c:strCache>
                <c:ptCount val="1"/>
                <c:pt idx="0">
                  <c:v>cooperative</c:v>
                </c:pt>
              </c:strCache>
            </c:strRef>
          </c:tx>
          <c:cat>
            <c:strRef>
              <c:f>Sheet1!$A$2:$A$5</c:f>
              <c:strCache>
                <c:ptCount val="4"/>
                <c:pt idx="0">
                  <c:v>2</c:v>
                </c:pt>
                <c:pt idx="1">
                  <c:v>4</c:v>
                </c:pt>
                <c:pt idx="2">
                  <c:v>6</c:v>
                </c:pt>
                <c:pt idx="3">
                  <c:v>8</c:v>
                </c:pt>
              </c:strCache>
            </c:strRef>
          </c:cat>
          <c:val>
            <c:numRef>
              <c:f>Sheet1!$D$2:$D$5</c:f>
              <c:numCache>
                <c:formatCode>General</c:formatCode>
                <c:ptCount val="4"/>
                <c:pt idx="0">
                  <c:v>1.0</c:v>
                </c:pt>
                <c:pt idx="1">
                  <c:v>1.0</c:v>
                </c:pt>
                <c:pt idx="2">
                  <c:v>1.0</c:v>
                </c:pt>
                <c:pt idx="3">
                  <c:v>1.0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6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400"/>
            </a:pPr>
          </a:p>
        </c:txPr>
        <c:crossAx val="2118791784"/>
        <c:crosses val="autoZero"/>
      </c:valAx>
    </c:plotArea>
    <c:legend>
      <c:legendPos val="b"/>
      <c:layout/>
      <c:overlay val="0"/>
      <c:txPr>
        <a:bodyPr/>
        <a:lstStyle/>
        <a:p>
          <a:pPr>
            <a:defRPr sz="1400"/>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2000">
                <a:latin typeface="Calibri"/>
              </a:defRPr>
            </a:pPr>
            <a:r>
              <a:t>Mean planning time (ms)</a:t>
            </a:r>
          </a:p>
        </c:rich>
      </c:tx>
      <c:layout/>
      <c:overlay val="0"/>
    </c:title>
    <c:autoTitleDeleted val="0"/>
    <c:plotArea>
      <c:lineChart>
        <c:grouping val="standard"/>
        <c:varyColors val="0"/>
        <c:ser>
          <c:idx val="0"/>
          <c:order val="0"/>
          <c:tx>
            <c:strRef>
              <c:f>Sheet1!$B$1</c:f>
              <c:strCache>
                <c:ptCount val="1"/>
                <c:pt idx="0">
                  <c:v>independent</c:v>
                </c:pt>
              </c:strCache>
            </c:strRef>
          </c:tx>
          <c:cat>
            <c:strRef>
              <c:f>Sheet1!$A$2:$A$5</c:f>
              <c:strCache>
                <c:ptCount val="4"/>
                <c:pt idx="0">
                  <c:v>2</c:v>
                </c:pt>
                <c:pt idx="1">
                  <c:v>4</c:v>
                </c:pt>
                <c:pt idx="2">
                  <c:v>6</c:v>
                </c:pt>
                <c:pt idx="3">
                  <c:v>8</c:v>
                </c:pt>
              </c:strCache>
            </c:strRef>
          </c:cat>
          <c:val>
            <c:numRef>
              <c:f>Sheet1!$B$2:$B$5</c:f>
              <c:numCache>
                <c:formatCode>General</c:formatCode>
                <c:ptCount val="4"/>
                <c:pt idx="0">
                  <c:v>0.08175000548362732</c:v>
                </c:pt>
                <c:pt idx="1">
                  <c:v>0.1482666004449129</c:v>
                </c:pt>
                <c:pt idx="2">
                  <c:v>0.28546659741550684</c:v>
                </c:pt>
                <c:pt idx="3">
                  <c:v>0.502808194141835</c:v>
                </c:pt>
              </c:numCache>
            </c:numRef>
          </c:val>
          <c:smooth val="0"/>
        </c:ser>
        <c:ser>
          <c:idx val="1"/>
          <c:order val="1"/>
          <c:tx>
            <c:strRef>
              <c:f>Sheet1!$C$1</c:f>
              <c:strCache>
                <c:ptCount val="1"/>
                <c:pt idx="0">
                  <c:v>fixed</c:v>
                </c:pt>
              </c:strCache>
            </c:strRef>
          </c:tx>
          <c:cat>
            <c:strRef>
              <c:f>Sheet1!$A$2:$A$5</c:f>
              <c:strCache>
                <c:ptCount val="4"/>
                <c:pt idx="0">
                  <c:v>2</c:v>
                </c:pt>
                <c:pt idx="1">
                  <c:v>4</c:v>
                </c:pt>
                <c:pt idx="2">
                  <c:v>6</c:v>
                </c:pt>
                <c:pt idx="3">
                  <c:v>8</c:v>
                </c:pt>
              </c:strCache>
            </c:strRef>
          </c:cat>
          <c:val>
            <c:numRef>
              <c:f>Sheet1!$C$2:$C$5</c:f>
              <c:numCache>
                <c:formatCode>General</c:formatCode>
                <c:ptCount val="4"/>
                <c:pt idx="0">
                  <c:v>0.2265834016725421</c:v>
                </c:pt>
                <c:pt idx="1">
                  <c:v>0.5020168027840555</c:v>
                </c:pt>
                <c:pt idx="2">
                  <c:v>0.7692663988564163</c:v>
                </c:pt>
                <c:pt idx="3">
                  <c:v>1.6992834047414362</c:v>
                </c:pt>
              </c:numCache>
            </c:numRef>
          </c:val>
          <c:smooth val="0"/>
        </c:ser>
        <c:ser>
          <c:idx val="2"/>
          <c:order val="2"/>
          <c:tx>
            <c:strRef>
              <c:f>Sheet1!$D$1</c:f>
              <c:strCache>
                <c:ptCount val="1"/>
                <c:pt idx="0">
                  <c:v>cooperative</c:v>
                </c:pt>
              </c:strCache>
            </c:strRef>
          </c:tx>
          <c:cat>
            <c:strRef>
              <c:f>Sheet1!$A$2:$A$5</c:f>
              <c:strCache>
                <c:ptCount val="4"/>
                <c:pt idx="0">
                  <c:v>2</c:v>
                </c:pt>
                <c:pt idx="1">
                  <c:v>4</c:v>
                </c:pt>
                <c:pt idx="2">
                  <c:v>6</c:v>
                </c:pt>
                <c:pt idx="3">
                  <c:v>8</c:v>
                </c:pt>
              </c:strCache>
            </c:strRef>
          </c:cat>
          <c:val>
            <c:numRef>
              <c:f>Sheet1!$D$2:$D$5</c:f>
              <c:numCache>
                <c:formatCode>General</c:formatCode>
                <c:ptCount val="4"/>
                <c:pt idx="0">
                  <c:v>0.22792480303905904</c:v>
                </c:pt>
                <c:pt idx="1">
                  <c:v>0.5072500032838434</c:v>
                </c:pt>
                <c:pt idx="2">
                  <c:v>0.9029082080814987</c:v>
                </c:pt>
                <c:pt idx="3">
                  <c:v>1.7009416013024747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6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400"/>
            </a:pPr>
          </a:p>
        </c:txPr>
        <c:crossAx val="2118791784"/>
        <c:crosses val="autoZero"/>
      </c:valAx>
    </c:plotArea>
    <c:legend>
      <c:legendPos val="b"/>
      <c:layout/>
      <c:overlay val="0"/>
      <c:txPr>
        <a:bodyPr/>
        <a:lstStyle/>
        <a:p>
          <a:pPr>
            <a:defRPr sz="14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objective in about 30 seconds. This is a single delivery wave with static shelves, built with explicit A* and space-time A*. Do not claim physical deployment. Student metadata must be replaced.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six assigned loads, static shelf geometry and interacting routes. Primary aim is safe completion. Costs and finish times are performance measures, not globally optimized promises.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state is all positions at a synchronous tick. Lower-level states add time. Following is permitted, vertex sharing and opposite-edge swaps are forbidden. Final goals persist indefinitely. A nonterminal goal visit can depart when holding is unsafe.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[1]: [1] Hart, P. E., Nilsson, N. J., and Raphael, B. (1968). A Formal Basis for the Heuristic Determination of Minimum Cost Paths. IEEE Transactions on Systems Science and Cybernetics 4(2), 100-107. DOI 10.1109/TSSC.1968.300136. https://ieeexplore.ieee.org/document/4082128 Explain g as known cost, h as lower bound. Each orthogonal move reduces Manhattan by at most one. A zero heuristic gives Dijkstra through the same function. Shared _search uses heapq and skips stale entries. In the worked no-obstacle example root (0,0) to (2,1) has g=0,h=3,f=3. After east, g=1,h=2,f=3.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actual intersection baseline at tick 1. Both robots independently choose length-two routes through (1,1), causing a real vertex conflict. The cost four is unsafe joint cost, not a feasible solution. Source: results/baseline_plan.json.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[2]: [2] Silver, D. (2005). Cooperative Pathfinding. Proceedings of the AAAI Conference on Artificial Intelligence and Interactive Digital Entertainment 1(1), 117-122. DOI 10.1609/aiide.v1i1.18726. https://ojs.aaai.org/index.php/AIIDE/article/view/18726 Explain (x,y,t), a unit-cost wait successor and absolute horizon. The intersection is taken from results/worked_example.json, not hand-drawn hypothetical routes. Low-level search may reach a goal but must still check safe holding.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dictionary/set design in reservations.py. last_visit summarizes the latest finite tick at a cell. can_hold requires no permanent use and last_visit &lt; arrival. A goal free at the present tick may be unsafe later. Following remains legal when destination and reverse-edge tests pass.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Files: models/grid, astar, reservations/cooperative, validation/io, simulation/visualization. Fixed order is lexicographic ID. Portfolio is descending distance, reverse, three seeded permutations, deduplicated. Horizon sequence 40,80, first valid selection. All failed effort counts.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python -m warehouse_ai replay --plan results/default_plan.json. Point out paths, stable IDs, shelves and goal labels. Pause, step and reset, then change speed. A global tick reads all robot positions simultaneously. The headless GIF is a reliable fallback. Distinguish export verification from actual GUI checks in docs/QA.md.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Seeds are 11,22,33,44,55. Fixed shelf layout, uniform 2N distinct free endpoints, static connectivity checked but joint feasibility not guaranteed. There are 78 total runs. One perf_counter timing per solver and instance; means across seeds. Environment: 3.12.14, macOS-27.0.1-arm64-arm-64bit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data: results/runs.json and summary.json. Both coordinators 20/20 aggregate safe completion; independent 10/20. Five cases per count, no confidence intervals. Timing is machine-specific and includes all planning effort. Equal rates here do not establish equal general robustness.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 only same common-success samples. At six robots, five paired cases: portfolio cost 77.8 versus fixed 75.4, delta +2.4. Portfolio mean makespan is 19.8 versus 20.2. First valid order is not global optimization. Independent valid subsets differ and have no valid sample at eight, so no independent cost advantage claim.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pytest item count with number of randomized maps. Each algorithmic safety case tests concrete assertions. Validator reads actual transitions and padded occupancy, not reservations. Horizon exhaustion is not an impossibility proof. Exact evidence: results/test_execution.txt. GUI verification scope is separately documented.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bay-exit fixture: A first plugs center; B first exits and A arrives later. Bounded retries are not deadlock-proof. CBS is not implemented and no optimality claim is borrowed from it. Complexity expands from V cells to V(H+1) time states per low-level search.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in about 30 seconds. These findings are scoped to tested cases. The three references were checked against publisher/author metadata; not every full text was accessed. Full URLs and all authors are in docs/references.md. Total presentation target 8-10 minutes. AI-assisted implementation and preparation should be disclosed according to course policy.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1.xm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Warehouse robot coordination</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1</a:t>
            </a:r>
          </a:p>
        </p:txBody>
      </p:sp>
      <p:sp>
        <p:nvSpPr>
          <p:cNvPr id="4" name="TextBox 3"/>
          <p:cNvSpPr txBox="1"/>
          <p:nvPr/>
        </p:nvSpPr>
        <p:spPr>
          <a:xfrm>
            <a:off x="640080" y="1554480"/>
            <a:ext cx="10515600" cy="1097280"/>
          </a:xfrm>
          <a:prstGeom prst="rect">
            <a:avLst/>
          </a:prstGeom>
          <a:noFill/>
        </p:spPr>
        <p:txBody>
          <a:bodyPr wrap="square" lIns="27432" rIns="27432">
            <a:spAutoFit/>
          </a:bodyPr>
          <a:lstStyle/>
          <a:p>
            <a:pPr>
              <a:spcAft>
                <a:spcPts val="1400"/>
              </a:spcAft>
              <a:defRPr sz="4200" b="1">
                <a:solidFill>
                  <a:srgbClr val="00736E"/>
                </a:solidFill>
                <a:latin typeface="Calibri"/>
              </a:defRPr>
            </a:pPr>
            <a:r>
              <a:t>A* search for a safe delivery wave</a:t>
            </a:r>
          </a:p>
        </p:txBody>
      </p:sp>
      <p:sp>
        <p:nvSpPr>
          <p:cNvPr id="5" name="TextBox 4"/>
          <p:cNvSpPr txBox="1"/>
          <p:nvPr/>
        </p:nvSpPr>
        <p:spPr>
          <a:xfrm>
            <a:off x="685800" y="3703320"/>
            <a:ext cx="10515600" cy="1828800"/>
          </a:xfrm>
          <a:prstGeom prst="rect">
            <a:avLst/>
          </a:prstGeom>
          <a:noFill/>
        </p:spPr>
        <p:txBody>
          <a:bodyPr wrap="square" lIns="27432" rIns="27432">
            <a:spAutoFit/>
          </a:bodyPr>
          <a:lstStyle/>
          <a:p>
            <a:pPr>
              <a:spcAft>
                <a:spcPts val="1400"/>
              </a:spcAft>
              <a:defRPr sz="2400" b="0">
                <a:solidFill>
                  <a:srgbClr val="15293C"/>
                </a:solidFill>
                <a:latin typeface="Calibri"/>
              </a:defRPr>
            </a:pPr>
            <a:r>
              <a:t>Fundamentals of AI</a:t>
            </a:r>
          </a:p>
          <a:p>
            <a:pPr>
              <a:spcAft>
                <a:spcPts val="1400"/>
              </a:spcAft>
              <a:defRPr sz="2400" b="0">
                <a:solidFill>
                  <a:srgbClr val="15293C"/>
                </a:solidFill>
                <a:latin typeface="Calibri"/>
              </a:defRPr>
            </a:pPr>
            <a:r>
              <a:t>[Student Name]   [Roll Number]</a:t>
            </a:r>
          </a:p>
          <a:p>
            <a:pPr>
              <a:spcAft>
                <a:spcPts val="1400"/>
              </a:spcAft>
              <a:defRPr sz="2400" b="0">
                <a:solidFill>
                  <a:srgbClr val="15293C"/>
                </a:solidFill>
                <a:latin typeface="Calibri"/>
              </a:defRPr>
            </a:pPr>
            <a:r>
              <a:t>[Institution]   [Faculty]   [Submission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The warehouse problem</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2</a:t>
            </a:r>
          </a:p>
        </p:txBody>
      </p:sp>
      <p:pic>
        <p:nvPicPr>
          <p:cNvPr id="4" name="Picture 3" descr="default_complete.png"/>
          <p:cNvPicPr>
            <a:picLocks noChangeAspect="1"/>
          </p:cNvPicPr>
          <p:nvPr/>
        </p:nvPicPr>
        <p:blipFill>
          <a:blip r:embed="rId3"/>
          <a:stretch>
            <a:fillRect/>
          </a:stretch>
        </p:blipFill>
        <p:spPr>
          <a:xfrm>
            <a:off x="5760720" y="1325880"/>
            <a:ext cx="5715000" cy="4156364"/>
          </a:xfrm>
          <a:prstGeom prst="rect">
            <a:avLst/>
          </a:prstGeom>
        </p:spPr>
      </p:pic>
      <p:sp>
        <p:nvSpPr>
          <p:cNvPr id="5" name="TextBox 4"/>
          <p:cNvSpPr txBox="1"/>
          <p:nvPr/>
        </p:nvSpPr>
        <p:spPr>
          <a:xfrm>
            <a:off x="640080" y="1508760"/>
            <a:ext cx="4846320" cy="4389120"/>
          </a:xfrm>
          <a:prstGeom prst="rect">
            <a:avLst/>
          </a:prstGeom>
          <a:noFill/>
        </p:spPr>
        <p:txBody>
          <a:bodyPr wrap="square" lIns="27432" rIns="27432">
            <a:spAutoFit/>
          </a:bodyPr>
          <a:lstStyle/>
          <a:p>
            <a:pPr>
              <a:spcAft>
                <a:spcPts val="1400"/>
              </a:spcAft>
              <a:defRPr sz="2600" b="0">
                <a:solidFill>
                  <a:srgbClr val="15293C"/>
                </a:solidFill>
                <a:latin typeface="Calibri"/>
              </a:defRPr>
            </a:pPr>
            <a:r>
              <a:t>20 x 15 cells and six robots</a:t>
            </a:r>
          </a:p>
          <a:p>
            <a:pPr>
              <a:spcAft>
                <a:spcPts val="1400"/>
              </a:spcAft>
              <a:defRPr sz="2600" b="0">
                <a:solidFill>
                  <a:srgbClr val="15293C"/>
                </a:solidFill>
                <a:latin typeface="Calibri"/>
              </a:defRPr>
            </a:pPr>
            <a:r>
              <a:t>Assigned starts and unique destinations</a:t>
            </a:r>
          </a:p>
          <a:p>
            <a:pPr>
              <a:spcAft>
                <a:spcPts val="1400"/>
              </a:spcAft>
              <a:defRPr sz="2600" b="0">
                <a:solidFill>
                  <a:srgbClr val="15293C"/>
                </a:solidFill>
                <a:latin typeface="Calibri"/>
              </a:defRPr>
            </a:pPr>
            <a:r>
              <a:t>Crossing aisles connect shelf blocks</a:t>
            </a:r>
          </a:p>
          <a:p>
            <a:pPr>
              <a:spcAft>
                <a:spcPts val="1400"/>
              </a:spcAft>
              <a:defRPr sz="2600" b="0">
                <a:solidFill>
                  <a:srgbClr val="15293C"/>
                </a:solidFill>
                <a:latin typeface="Calibri"/>
              </a:defRPr>
            </a:pPr>
            <a:r>
              <a:t>Safe completion is the primary objective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State actions and collision rules</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3</a:t>
            </a:r>
          </a:p>
        </p:txBody>
      </p:sp>
      <p:graphicFrame>
        <p:nvGraphicFramePr>
          <p:cNvPr id="4" name="Table 3"/>
          <p:cNvGraphicFramePr>
            <a:graphicFrameLocks noGrp="1"/>
          </p:cNvGraphicFramePr>
          <p:nvPr/>
        </p:nvGraphicFramePr>
        <p:xfrm>
          <a:off x="640080" y="1371600"/>
          <a:ext cx="10881360" cy="4480560"/>
        </p:xfrm>
        <a:graphic>
          <a:graphicData uri="http://schemas.openxmlformats.org/drawingml/2006/table">
            <a:tbl>
              <a:tblPr firstRow="1" bandRow="1">
                <a:tableStyleId>{5C22544A-7EE6-4342-B048-85BDC9FD1C3A}</a:tableStyleId>
              </a:tblPr>
              <a:tblGrid>
                <a:gridCol w="5440680"/>
                <a:gridCol w="5440680"/>
              </a:tblGrid>
              <a:tr h="640080">
                <a:tc>
                  <a:txBody>
                    <a:bodyPr/>
                    <a:lstStyle/>
                    <a:p>
                      <a:pPr>
                        <a:defRPr sz="2200" b="1">
                          <a:solidFill>
                            <a:srgbClr val="15293C"/>
                          </a:solidFill>
                          <a:latin typeface="Calibri"/>
                        </a:defRPr>
                      </a:pPr>
                      <a:r>
                        <a:t>Model</a:t>
                      </a:r>
                    </a:p>
                  </a:txBody>
                  <a:tcPr>
                    <a:solidFill>
                      <a:srgbClr val="DEE8EF"/>
                    </a:solidFill>
                  </a:tcPr>
                </a:tc>
                <a:tc>
                  <a:txBody>
                    <a:bodyPr/>
                    <a:lstStyle/>
                    <a:p>
                      <a:pPr>
                        <a:defRPr sz="2200" b="1">
                          <a:solidFill>
                            <a:srgbClr val="15293C"/>
                          </a:solidFill>
                          <a:latin typeface="Calibri"/>
                        </a:defRPr>
                      </a:pPr>
                      <a:r>
                        <a:t>Rule</a:t>
                      </a:r>
                    </a:p>
                  </a:txBody>
                  <a:tcPr>
                    <a:solidFill>
                      <a:srgbClr val="DEE8EF"/>
                    </a:solidFill>
                  </a:tcPr>
                </a:tc>
              </a:tr>
              <a:tr h="640080">
                <a:tc>
                  <a:txBody>
                    <a:bodyPr/>
                    <a:lstStyle/>
                    <a:p>
                      <a:pPr>
                        <a:defRPr sz="2200" b="0">
                          <a:solidFill>
                            <a:srgbClr val="15293C"/>
                          </a:solidFill>
                          <a:latin typeface="Calibri"/>
                        </a:defRPr>
                      </a:pPr>
                      <a:r>
                        <a:t>Coordinates</a:t>
                      </a:r>
                    </a:p>
                  </a:txBody>
                  <a:tcPr>
                    <a:solidFill>
                      <a:srgbClr val="F7F9FB"/>
                    </a:solidFill>
                  </a:tcPr>
                </a:tc>
                <a:tc>
                  <a:txBody>
                    <a:bodyPr/>
                    <a:lstStyle/>
                    <a:p>
                      <a:pPr>
                        <a:defRPr sz="2200" b="0">
                          <a:solidFill>
                            <a:srgbClr val="15293C"/>
                          </a:solidFill>
                          <a:latin typeface="Calibri"/>
                        </a:defRPr>
                      </a:pPr>
                      <a:r>
                        <a:t>(x,y), east +x, north +y</a:t>
                      </a:r>
                    </a:p>
                  </a:txBody>
                  <a:tcPr>
                    <a:solidFill>
                      <a:srgbClr val="F7F9FB"/>
                    </a:solidFill>
                  </a:tcPr>
                </a:tc>
              </a:tr>
              <a:tr h="640080">
                <a:tc>
                  <a:txBody>
                    <a:bodyPr/>
                    <a:lstStyle/>
                    <a:p>
                      <a:pPr>
                        <a:defRPr sz="2200" b="0">
                          <a:solidFill>
                            <a:srgbClr val="15293C"/>
                          </a:solidFill>
                          <a:latin typeface="Calibri"/>
                        </a:defRPr>
                      </a:pPr>
                      <a:r>
                        <a:t>Actions</a:t>
                      </a:r>
                    </a:p>
                  </a:txBody>
                  <a:tcPr>
                    <a:solidFill>
                      <a:srgbClr val="F7F9FB"/>
                    </a:solidFill>
                  </a:tcPr>
                </a:tc>
                <a:tc>
                  <a:txBody>
                    <a:bodyPr/>
                    <a:lstStyle/>
                    <a:p>
                      <a:pPr>
                        <a:defRPr sz="2200" b="0">
                          <a:solidFill>
                            <a:srgbClr val="15293C"/>
                          </a:solidFill>
                          <a:latin typeface="Calibri"/>
                        </a:defRPr>
                      </a:pPr>
                      <a:r>
                        <a:t>N, S, E, W or wait, unit cost</a:t>
                      </a:r>
                    </a:p>
                  </a:txBody>
                  <a:tcPr>
                    <a:solidFill>
                      <a:srgbClr val="F7F9FB"/>
                    </a:solidFill>
                  </a:tcPr>
                </a:tc>
              </a:tr>
              <a:tr h="640080">
                <a:tc>
                  <a:txBody>
                    <a:bodyPr/>
                    <a:lstStyle/>
                    <a:p>
                      <a:pPr>
                        <a:defRPr sz="2200" b="0">
                          <a:solidFill>
                            <a:srgbClr val="15293C"/>
                          </a:solidFill>
                          <a:latin typeface="Calibri"/>
                        </a:defRPr>
                      </a:pPr>
                      <a:r>
                        <a:t>Vertex conflict</a:t>
                      </a:r>
                    </a:p>
                  </a:txBody>
                  <a:tcPr>
                    <a:solidFill>
                      <a:srgbClr val="F7F9FB"/>
                    </a:solidFill>
                  </a:tcPr>
                </a:tc>
                <a:tc>
                  <a:txBody>
                    <a:bodyPr/>
                    <a:lstStyle/>
                    <a:p>
                      <a:pPr>
                        <a:defRPr sz="2200" b="0">
                          <a:solidFill>
                            <a:srgbClr val="15293C"/>
                          </a:solidFill>
                          <a:latin typeface="Calibri"/>
                        </a:defRPr>
                      </a:pPr>
                      <a:r>
                        <a:t>Same cell at the same tick</a:t>
                      </a:r>
                    </a:p>
                  </a:txBody>
                  <a:tcPr>
                    <a:solidFill>
                      <a:srgbClr val="F7F9FB"/>
                    </a:solidFill>
                  </a:tcPr>
                </a:tc>
              </a:tr>
              <a:tr h="640080">
                <a:tc>
                  <a:txBody>
                    <a:bodyPr/>
                    <a:lstStyle/>
                    <a:p>
                      <a:pPr>
                        <a:defRPr sz="2200" b="0">
                          <a:solidFill>
                            <a:srgbClr val="15293C"/>
                          </a:solidFill>
                          <a:latin typeface="Calibri"/>
                        </a:defRPr>
                      </a:pPr>
                      <a:r>
                        <a:t>Edge swap</a:t>
                      </a:r>
                    </a:p>
                  </a:txBody>
                  <a:tcPr>
                    <a:solidFill>
                      <a:srgbClr val="F7F9FB"/>
                    </a:solidFill>
                  </a:tcPr>
                </a:tc>
                <a:tc>
                  <a:txBody>
                    <a:bodyPr/>
                    <a:lstStyle/>
                    <a:p>
                      <a:pPr>
                        <a:defRPr sz="2200" b="0">
                          <a:solidFill>
                            <a:srgbClr val="15293C"/>
                          </a:solidFill>
                          <a:latin typeface="Calibri"/>
                        </a:defRPr>
                      </a:pPr>
                      <a:r>
                        <a:t>Opposite traversal in one interval</a:t>
                      </a:r>
                    </a:p>
                  </a:txBody>
                  <a:tcPr>
                    <a:solidFill>
                      <a:srgbClr val="F7F9FB"/>
                    </a:solidFill>
                  </a:tcPr>
                </a:tc>
              </a:tr>
              <a:tr h="640080">
                <a:tc>
                  <a:txBody>
                    <a:bodyPr/>
                    <a:lstStyle/>
                    <a:p>
                      <a:pPr>
                        <a:defRPr sz="2200" b="0">
                          <a:solidFill>
                            <a:srgbClr val="15293C"/>
                          </a:solidFill>
                          <a:latin typeface="Calibri"/>
                        </a:defRPr>
                      </a:pPr>
                      <a:r>
                        <a:t>Goals</a:t>
                      </a:r>
                    </a:p>
                  </a:txBody>
                  <a:tcPr>
                    <a:solidFill>
                      <a:srgbClr val="F7F9FB"/>
                    </a:solidFill>
                  </a:tcPr>
                </a:tc>
                <a:tc>
                  <a:txBody>
                    <a:bodyPr/>
                    <a:lstStyle/>
                    <a:p>
                      <a:pPr>
                        <a:defRPr sz="2200" b="0">
                          <a:solidFill>
                            <a:srgbClr val="15293C"/>
                          </a:solidFill>
                          <a:latin typeface="Calibri"/>
                        </a:defRPr>
                      </a:pPr>
                      <a:r>
                        <a:t>Hold accepted terminal goals forever</a:t>
                      </a:r>
                    </a:p>
                  </a:txBody>
                  <a:tcPr>
                    <a:solidFill>
                      <a:srgbClr val="F7F9FB"/>
                    </a:solidFill>
                  </a:tcPr>
                </a:tc>
              </a:tr>
              <a:tr h="640080">
                <a:tc>
                  <a:txBody>
                    <a:bodyPr/>
                    <a:lstStyle/>
                    <a:p>
                      <a:pPr>
                        <a:defRPr sz="2200" b="0">
                          <a:solidFill>
                            <a:srgbClr val="15293C"/>
                          </a:solidFill>
                          <a:latin typeface="Calibri"/>
                        </a:defRPr>
                      </a:pPr>
                      <a:r>
                        <a:t>Following</a:t>
                      </a:r>
                    </a:p>
                  </a:txBody>
                  <a:tcPr>
                    <a:solidFill>
                      <a:srgbClr val="F7F9FB"/>
                    </a:solidFill>
                  </a:tcPr>
                </a:tc>
                <a:tc>
                  <a:txBody>
                    <a:bodyPr/>
                    <a:lstStyle/>
                    <a:p>
                      <a:pPr>
                        <a:defRPr sz="2200" b="0">
                          <a:solidFill>
                            <a:srgbClr val="15293C"/>
                          </a:solidFill>
                          <a:latin typeface="Calibri"/>
                        </a:defRPr>
                      </a:pPr>
                      <a:r>
                        <a:t>Allowed after another robot leaves</a:t>
                      </a:r>
                    </a:p>
                  </a:txBody>
                  <a:tcPr>
                    <a:solidFill>
                      <a:srgbClr val="F7F9FB"/>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Spatial A* search</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4</a:t>
            </a:r>
          </a:p>
        </p:txBody>
      </p:sp>
      <p:sp>
        <p:nvSpPr>
          <p:cNvPr id="4" name="TextBox 3"/>
          <p:cNvSpPr txBox="1"/>
          <p:nvPr/>
        </p:nvSpPr>
        <p:spPr>
          <a:xfrm>
            <a:off x="640080" y="1371600"/>
            <a:ext cx="10789920" cy="1280160"/>
          </a:xfrm>
          <a:prstGeom prst="rect">
            <a:avLst/>
          </a:prstGeom>
          <a:noFill/>
        </p:spPr>
        <p:txBody>
          <a:bodyPr wrap="square" lIns="27432" rIns="27432">
            <a:spAutoFit/>
          </a:bodyPr>
          <a:lstStyle/>
          <a:p>
            <a:pPr>
              <a:spcAft>
                <a:spcPts val="1400"/>
              </a:spcAft>
              <a:defRPr sz="3000" b="0">
                <a:solidFill>
                  <a:srgbClr val="00736E"/>
                </a:solidFill>
                <a:latin typeface="Calibri"/>
              </a:defRPr>
            </a:pPr>
            <a:r>
              <a:t>f(n) = g(n) + h(n)</a:t>
            </a:r>
          </a:p>
          <a:p>
            <a:pPr>
              <a:spcAft>
                <a:spcPts val="1400"/>
              </a:spcAft>
              <a:defRPr sz="3000" b="0">
                <a:solidFill>
                  <a:srgbClr val="00736E"/>
                </a:solidFill>
                <a:latin typeface="Calibri"/>
              </a:defRPr>
            </a:pPr>
            <a:r>
              <a:t>Manhattan h = |x - goal_x| + |y - goal_y|</a:t>
            </a:r>
          </a:p>
        </p:txBody>
      </p:sp>
      <p:graphicFrame>
        <p:nvGraphicFramePr>
          <p:cNvPr id="5" name="Table 4"/>
          <p:cNvGraphicFramePr>
            <a:graphicFrameLocks noGrp="1"/>
          </p:cNvGraphicFramePr>
          <p:nvPr/>
        </p:nvGraphicFramePr>
        <p:xfrm>
          <a:off x="731520" y="2880360"/>
          <a:ext cx="7132320" cy="2057400"/>
        </p:xfrm>
        <a:graphic>
          <a:graphicData uri="http://schemas.openxmlformats.org/drawingml/2006/table">
            <a:tbl>
              <a:tblPr firstRow="1" bandRow="1">
                <a:tableStyleId>{5C22544A-7EE6-4342-B048-85BDC9FD1C3A}</a:tableStyleId>
              </a:tblPr>
              <a:tblGrid>
                <a:gridCol w="1783080"/>
                <a:gridCol w="1783080"/>
                <a:gridCol w="1783080"/>
                <a:gridCol w="1783080"/>
              </a:tblGrid>
              <a:tr h="514350">
                <a:tc>
                  <a:txBody>
                    <a:bodyPr/>
                    <a:lstStyle/>
                    <a:p>
                      <a:pPr>
                        <a:defRPr sz="2300" b="1">
                          <a:solidFill>
                            <a:srgbClr val="15293C"/>
                          </a:solidFill>
                          <a:latin typeface="Calibri"/>
                        </a:defRPr>
                      </a:pPr>
                      <a:r>
                        <a:t>Cell toward (2,1)</a:t>
                      </a:r>
                    </a:p>
                  </a:txBody>
                  <a:tcPr>
                    <a:solidFill>
                      <a:srgbClr val="DEE8EF"/>
                    </a:solidFill>
                  </a:tcPr>
                </a:tc>
                <a:tc>
                  <a:txBody>
                    <a:bodyPr/>
                    <a:lstStyle/>
                    <a:p>
                      <a:pPr>
                        <a:defRPr sz="2300" b="1">
                          <a:solidFill>
                            <a:srgbClr val="15293C"/>
                          </a:solidFill>
                          <a:latin typeface="Calibri"/>
                        </a:defRPr>
                      </a:pPr>
                      <a:r>
                        <a:t>g</a:t>
                      </a:r>
                    </a:p>
                  </a:txBody>
                  <a:tcPr>
                    <a:solidFill>
                      <a:srgbClr val="DEE8EF"/>
                    </a:solidFill>
                  </a:tcPr>
                </a:tc>
                <a:tc>
                  <a:txBody>
                    <a:bodyPr/>
                    <a:lstStyle/>
                    <a:p>
                      <a:pPr>
                        <a:defRPr sz="2300" b="1">
                          <a:solidFill>
                            <a:srgbClr val="15293C"/>
                          </a:solidFill>
                          <a:latin typeface="Calibri"/>
                        </a:defRPr>
                      </a:pPr>
                      <a:r>
                        <a:t>h</a:t>
                      </a:r>
                    </a:p>
                  </a:txBody>
                  <a:tcPr>
                    <a:solidFill>
                      <a:srgbClr val="DEE8EF"/>
                    </a:solidFill>
                  </a:tcPr>
                </a:tc>
                <a:tc>
                  <a:txBody>
                    <a:bodyPr/>
                    <a:lstStyle/>
                    <a:p>
                      <a:pPr>
                        <a:defRPr sz="2300" b="1">
                          <a:solidFill>
                            <a:srgbClr val="15293C"/>
                          </a:solidFill>
                          <a:latin typeface="Calibri"/>
                        </a:defRPr>
                      </a:pPr>
                      <a:r>
                        <a:t>f</a:t>
                      </a:r>
                    </a:p>
                  </a:txBody>
                  <a:tcPr>
                    <a:solidFill>
                      <a:srgbClr val="DEE8EF"/>
                    </a:solidFill>
                  </a:tcPr>
                </a:tc>
              </a:tr>
              <a:tr h="514350">
                <a:tc>
                  <a:txBody>
                    <a:bodyPr/>
                    <a:lstStyle/>
                    <a:p>
                      <a:pPr>
                        <a:defRPr sz="2300" b="0">
                          <a:solidFill>
                            <a:srgbClr val="15293C"/>
                          </a:solidFill>
                          <a:latin typeface="Calibri"/>
                        </a:defRPr>
                      </a:pPr>
                      <a:r>
                        <a:t>(0,0)</a:t>
                      </a:r>
                    </a:p>
                  </a:txBody>
                  <a:tcPr>
                    <a:solidFill>
                      <a:srgbClr val="F7F9FB"/>
                    </a:solidFill>
                  </a:tcPr>
                </a:tc>
                <a:tc>
                  <a:txBody>
                    <a:bodyPr/>
                    <a:lstStyle/>
                    <a:p>
                      <a:pPr>
                        <a:defRPr sz="2300" b="0">
                          <a:solidFill>
                            <a:srgbClr val="15293C"/>
                          </a:solidFill>
                          <a:latin typeface="Calibri"/>
                        </a:defRPr>
                      </a:pPr>
                      <a:r>
                        <a:t>0</a:t>
                      </a:r>
                    </a:p>
                  </a:txBody>
                  <a:tcPr>
                    <a:solidFill>
                      <a:srgbClr val="F7F9FB"/>
                    </a:solidFill>
                  </a:tcPr>
                </a:tc>
                <a:tc>
                  <a:txBody>
                    <a:bodyPr/>
                    <a:lstStyle/>
                    <a:p>
                      <a:pPr>
                        <a:defRPr sz="2300" b="0">
                          <a:solidFill>
                            <a:srgbClr val="15293C"/>
                          </a:solidFill>
                          <a:latin typeface="Calibri"/>
                        </a:defRPr>
                      </a:pPr>
                      <a:r>
                        <a:t>3</a:t>
                      </a:r>
                    </a:p>
                  </a:txBody>
                  <a:tcPr>
                    <a:solidFill>
                      <a:srgbClr val="F7F9FB"/>
                    </a:solidFill>
                  </a:tcPr>
                </a:tc>
                <a:tc>
                  <a:txBody>
                    <a:bodyPr/>
                    <a:lstStyle/>
                    <a:p>
                      <a:pPr>
                        <a:defRPr sz="2300" b="0">
                          <a:solidFill>
                            <a:srgbClr val="15293C"/>
                          </a:solidFill>
                          <a:latin typeface="Calibri"/>
                        </a:defRPr>
                      </a:pPr>
                      <a:r>
                        <a:t>3</a:t>
                      </a:r>
                    </a:p>
                  </a:txBody>
                  <a:tcPr>
                    <a:solidFill>
                      <a:srgbClr val="F7F9FB"/>
                    </a:solidFill>
                  </a:tcPr>
                </a:tc>
              </a:tr>
              <a:tr h="514350">
                <a:tc>
                  <a:txBody>
                    <a:bodyPr/>
                    <a:lstStyle/>
                    <a:p>
                      <a:pPr>
                        <a:defRPr sz="2300" b="0">
                          <a:solidFill>
                            <a:srgbClr val="15293C"/>
                          </a:solidFill>
                          <a:latin typeface="Calibri"/>
                        </a:defRPr>
                      </a:pPr>
                      <a:r>
                        <a:t>(1,0)</a:t>
                      </a:r>
                    </a:p>
                  </a:txBody>
                  <a:tcPr>
                    <a:solidFill>
                      <a:srgbClr val="F7F9FB"/>
                    </a:solidFill>
                  </a:tcPr>
                </a:tc>
                <a:tc>
                  <a:txBody>
                    <a:bodyPr/>
                    <a:lstStyle/>
                    <a:p>
                      <a:pPr>
                        <a:defRPr sz="2300" b="0">
                          <a:solidFill>
                            <a:srgbClr val="15293C"/>
                          </a:solidFill>
                          <a:latin typeface="Calibri"/>
                        </a:defRPr>
                      </a:pPr>
                      <a:r>
                        <a:t>1</a:t>
                      </a:r>
                    </a:p>
                  </a:txBody>
                  <a:tcPr>
                    <a:solidFill>
                      <a:srgbClr val="F7F9FB"/>
                    </a:solidFill>
                  </a:tcPr>
                </a:tc>
                <a:tc>
                  <a:txBody>
                    <a:bodyPr/>
                    <a:lstStyle/>
                    <a:p>
                      <a:pPr>
                        <a:defRPr sz="2300" b="0">
                          <a:solidFill>
                            <a:srgbClr val="15293C"/>
                          </a:solidFill>
                          <a:latin typeface="Calibri"/>
                        </a:defRPr>
                      </a:pPr>
                      <a:r>
                        <a:t>2</a:t>
                      </a:r>
                    </a:p>
                  </a:txBody>
                  <a:tcPr>
                    <a:solidFill>
                      <a:srgbClr val="F7F9FB"/>
                    </a:solidFill>
                  </a:tcPr>
                </a:tc>
                <a:tc>
                  <a:txBody>
                    <a:bodyPr/>
                    <a:lstStyle/>
                    <a:p>
                      <a:pPr>
                        <a:defRPr sz="2300" b="0">
                          <a:solidFill>
                            <a:srgbClr val="15293C"/>
                          </a:solidFill>
                          <a:latin typeface="Calibri"/>
                        </a:defRPr>
                      </a:pPr>
                      <a:r>
                        <a:t>3</a:t>
                      </a:r>
                    </a:p>
                  </a:txBody>
                  <a:tcPr>
                    <a:solidFill>
                      <a:srgbClr val="F7F9FB"/>
                    </a:solidFill>
                  </a:tcPr>
                </a:tc>
              </a:tr>
              <a:tr h="514350">
                <a:tc>
                  <a:txBody>
                    <a:bodyPr/>
                    <a:lstStyle/>
                    <a:p>
                      <a:pPr>
                        <a:defRPr sz="2300" b="0">
                          <a:solidFill>
                            <a:srgbClr val="15293C"/>
                          </a:solidFill>
                          <a:latin typeface="Calibri"/>
                        </a:defRPr>
                      </a:pPr>
                      <a:r>
                        <a:t>(2,0)</a:t>
                      </a:r>
                    </a:p>
                  </a:txBody>
                  <a:tcPr>
                    <a:solidFill>
                      <a:srgbClr val="F7F9FB"/>
                    </a:solidFill>
                  </a:tcPr>
                </a:tc>
                <a:tc>
                  <a:txBody>
                    <a:bodyPr/>
                    <a:lstStyle/>
                    <a:p>
                      <a:pPr>
                        <a:defRPr sz="2300" b="0">
                          <a:solidFill>
                            <a:srgbClr val="15293C"/>
                          </a:solidFill>
                          <a:latin typeface="Calibri"/>
                        </a:defRPr>
                      </a:pPr>
                      <a:r>
                        <a:t>2</a:t>
                      </a:r>
                    </a:p>
                  </a:txBody>
                  <a:tcPr>
                    <a:solidFill>
                      <a:srgbClr val="F7F9FB"/>
                    </a:solidFill>
                  </a:tcPr>
                </a:tc>
                <a:tc>
                  <a:txBody>
                    <a:bodyPr/>
                    <a:lstStyle/>
                    <a:p>
                      <a:pPr>
                        <a:defRPr sz="2300" b="0">
                          <a:solidFill>
                            <a:srgbClr val="15293C"/>
                          </a:solidFill>
                          <a:latin typeface="Calibri"/>
                        </a:defRPr>
                      </a:pPr>
                      <a:r>
                        <a:t>1</a:t>
                      </a:r>
                    </a:p>
                  </a:txBody>
                  <a:tcPr>
                    <a:solidFill>
                      <a:srgbClr val="F7F9FB"/>
                    </a:solidFill>
                  </a:tcPr>
                </a:tc>
                <a:tc>
                  <a:txBody>
                    <a:bodyPr/>
                    <a:lstStyle/>
                    <a:p>
                      <a:pPr>
                        <a:defRPr sz="2300" b="0">
                          <a:solidFill>
                            <a:srgbClr val="15293C"/>
                          </a:solidFill>
                          <a:latin typeface="Calibri"/>
                        </a:defRPr>
                      </a:pPr>
                      <a:r>
                        <a:t>3</a:t>
                      </a:r>
                    </a:p>
                  </a:txBody>
                  <a:tcPr>
                    <a:solidFill>
                      <a:srgbClr val="F7F9FB"/>
                    </a:solidFill>
                  </a:tcPr>
                </a:tc>
              </a:tr>
            </a:tbl>
          </a:graphicData>
        </a:graphic>
      </p:graphicFrame>
      <p:sp>
        <p:nvSpPr>
          <p:cNvPr id="6" name="TextBox 5"/>
          <p:cNvSpPr txBox="1"/>
          <p:nvPr/>
        </p:nvSpPr>
        <p:spPr>
          <a:xfrm>
            <a:off x="8229600" y="2834640"/>
            <a:ext cx="3108960" cy="2560320"/>
          </a:xfrm>
          <a:prstGeom prst="rect">
            <a:avLst/>
          </a:prstGeom>
          <a:noFill/>
        </p:spPr>
        <p:txBody>
          <a:bodyPr wrap="square" lIns="27432" rIns="27432">
            <a:spAutoFit/>
          </a:bodyPr>
          <a:lstStyle/>
          <a:p>
            <a:pPr>
              <a:spcAft>
                <a:spcPts val="1400"/>
              </a:spcAft>
              <a:defRPr sz="2300" b="0">
                <a:solidFill>
                  <a:srgbClr val="15293C"/>
                </a:solidFill>
                <a:latin typeface="Calibri"/>
              </a:defRPr>
            </a:pPr>
            <a:r>
              <a:t>heapq frontier</a:t>
            </a:r>
          </a:p>
          <a:p>
            <a:pPr>
              <a:spcAft>
                <a:spcPts val="1400"/>
              </a:spcAft>
              <a:defRPr sz="2300" b="0">
                <a:solidFill>
                  <a:srgbClr val="15293C"/>
                </a:solidFill>
                <a:latin typeface="Calibri"/>
              </a:defRPr>
            </a:pPr>
            <a:r>
              <a:t>Deterministic ties</a:t>
            </a:r>
          </a:p>
          <a:p>
            <a:pPr>
              <a:spcAft>
                <a:spcPts val="1400"/>
              </a:spcAft>
              <a:defRPr sz="2300" b="0">
                <a:solidFill>
                  <a:srgbClr val="15293C"/>
                </a:solidFill>
                <a:latin typeface="Calibri"/>
              </a:defRPr>
            </a:pPr>
            <a:r>
              <a:t>Stale-entry check</a:t>
            </a:r>
          </a:p>
          <a:p>
            <a:pPr>
              <a:spcAft>
                <a:spcPts val="1400"/>
              </a:spcAft>
              <a:defRPr sz="2300" b="0">
                <a:solidFill>
                  <a:srgbClr val="15293C"/>
                </a:solidFill>
                <a:latin typeface="Calibri"/>
              </a:defRPr>
            </a:pPr>
            <a:r>
              <a:t>h = 0 comparison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Independent routes can collide</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5</a:t>
            </a:r>
          </a:p>
        </p:txBody>
      </p:sp>
      <p:pic>
        <p:nvPicPr>
          <p:cNvPr id="4" name="Picture 3" descr="baseline_conflict.png"/>
          <p:cNvPicPr>
            <a:picLocks noChangeAspect="1"/>
          </p:cNvPicPr>
          <p:nvPr/>
        </p:nvPicPr>
        <p:blipFill>
          <a:blip r:embed="rId3"/>
          <a:stretch>
            <a:fillRect/>
          </a:stretch>
        </p:blipFill>
        <p:spPr>
          <a:xfrm>
            <a:off x="685800" y="1234440"/>
            <a:ext cx="6309360" cy="4588625"/>
          </a:xfrm>
          <a:prstGeom prst="rect">
            <a:avLst/>
          </a:prstGeom>
        </p:spPr>
      </p:pic>
      <p:sp>
        <p:nvSpPr>
          <p:cNvPr id="5" name="TextBox 4"/>
          <p:cNvSpPr txBox="1"/>
          <p:nvPr/>
        </p:nvSpPr>
        <p:spPr>
          <a:xfrm>
            <a:off x="7315200" y="1645920"/>
            <a:ext cx="4160520" cy="4389120"/>
          </a:xfrm>
          <a:prstGeom prst="rect">
            <a:avLst/>
          </a:prstGeom>
          <a:noFill/>
        </p:spPr>
        <p:txBody>
          <a:bodyPr wrap="square" lIns="27432" rIns="27432">
            <a:spAutoFit/>
          </a:bodyPr>
          <a:lstStyle/>
          <a:p>
            <a:pPr>
              <a:spcAft>
                <a:spcPts val="1400"/>
              </a:spcAft>
              <a:defRPr sz="2600" b="0">
                <a:solidFill>
                  <a:srgbClr val="15293C"/>
                </a:solidFill>
                <a:latin typeface="Calibri"/>
              </a:defRPr>
            </a:pPr>
            <a:r>
              <a:t>Tick 1 shares the center</a:t>
            </a:r>
          </a:p>
          <a:p>
            <a:pPr>
              <a:spcAft>
                <a:spcPts val="1400"/>
              </a:spcAft>
              <a:defRPr sz="2600" b="0">
                <a:solidFill>
                  <a:srgbClr val="15293C"/>
                </a:solidFill>
                <a:latin typeface="Calibri"/>
              </a:defRPr>
            </a:pPr>
            <a:r>
              <a:t>Both individual routes are shortest</a:t>
            </a:r>
          </a:p>
          <a:p>
            <a:pPr>
              <a:spcAft>
                <a:spcPts val="1400"/>
              </a:spcAft>
              <a:defRPr sz="2600" b="0">
                <a:solidFill>
                  <a:srgbClr val="15293C"/>
                </a:solidFill>
                <a:latin typeface="Calibri"/>
              </a:defRPr>
            </a:pPr>
            <a:r>
              <a:t>Joint replay detects a vertex conflict</a:t>
            </a:r>
          </a:p>
          <a:p>
            <a:pPr>
              <a:spcAft>
                <a:spcPts val="1400"/>
              </a:spcAft>
              <a:defRPr sz="2600" b="0">
                <a:solidFill>
                  <a:srgbClr val="15293C"/>
                </a:solidFill>
                <a:latin typeface="Calibri"/>
              </a:defRPr>
            </a:pPr>
            <a:r>
              <a:t>The saved plan is labeled UNSAFE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Space-time A* includes waiting</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6</a:t>
            </a:r>
          </a:p>
        </p:txBody>
      </p:sp>
      <p:sp>
        <p:nvSpPr>
          <p:cNvPr id="4" name="TextBox 3"/>
          <p:cNvSpPr txBox="1"/>
          <p:nvPr/>
        </p:nvSpPr>
        <p:spPr>
          <a:xfrm>
            <a:off x="640080" y="1463040"/>
            <a:ext cx="5212080" cy="4206240"/>
          </a:xfrm>
          <a:prstGeom prst="rect">
            <a:avLst/>
          </a:prstGeom>
          <a:noFill/>
        </p:spPr>
        <p:txBody>
          <a:bodyPr wrap="square" lIns="27432" rIns="27432">
            <a:spAutoFit/>
          </a:bodyPr>
          <a:lstStyle/>
          <a:p>
            <a:pPr>
              <a:spcAft>
                <a:spcPts val="1400"/>
              </a:spcAft>
              <a:defRPr sz="2700" b="0">
                <a:solidFill>
                  <a:srgbClr val="15293C"/>
                </a:solidFill>
                <a:latin typeface="Calibri"/>
              </a:defRPr>
            </a:pPr>
            <a:r>
              <a:t>State (x,y,t)</a:t>
            </a:r>
          </a:p>
          <a:p>
            <a:pPr>
              <a:spcAft>
                <a:spcPts val="1400"/>
              </a:spcAft>
              <a:defRPr sz="2700" b="0">
                <a:solidFill>
                  <a:srgbClr val="15293C"/>
                </a:solidFill>
                <a:latin typeface="Calibri"/>
              </a:defRPr>
            </a:pPr>
            <a:r>
              <a:t>Move or wait advances to t+1</a:t>
            </a:r>
          </a:p>
          <a:p>
            <a:pPr>
              <a:spcAft>
                <a:spcPts val="1400"/>
              </a:spcAft>
              <a:defRPr sz="2700" b="0">
                <a:solidFill>
                  <a:srgbClr val="15293C"/>
                </a:solidFill>
                <a:latin typeface="Calibri"/>
              </a:defRPr>
            </a:pPr>
            <a:r>
              <a:t>Reservations constrain successors</a:t>
            </a:r>
          </a:p>
          <a:p>
            <a:pPr>
              <a:spcAft>
                <a:spcPts val="1400"/>
              </a:spcAft>
              <a:defRPr sz="2700" b="0">
                <a:solidFill>
                  <a:srgbClr val="15293C"/>
                </a:solidFill>
                <a:latin typeface="Calibri"/>
              </a:defRPr>
            </a:pPr>
            <a:r>
              <a:t>Goal acceptance checks future occupancy</a:t>
            </a:r>
          </a:p>
        </p:txBody>
      </p:sp>
      <p:graphicFrame>
        <p:nvGraphicFramePr>
          <p:cNvPr id="5" name="Table 4"/>
          <p:cNvGraphicFramePr>
            <a:graphicFrameLocks noGrp="1"/>
          </p:cNvGraphicFramePr>
          <p:nvPr/>
        </p:nvGraphicFramePr>
        <p:xfrm>
          <a:off x="6217920" y="1508760"/>
          <a:ext cx="5212080" cy="3200400"/>
        </p:xfrm>
        <a:graphic>
          <a:graphicData uri="http://schemas.openxmlformats.org/drawingml/2006/table">
            <a:tbl>
              <a:tblPr firstRow="1" bandRow="1">
                <a:tableStyleId>{5C22544A-7EE6-4342-B048-85BDC9FD1C3A}</a:tableStyleId>
              </a:tblPr>
              <a:tblGrid>
                <a:gridCol w="1737360"/>
                <a:gridCol w="1737360"/>
                <a:gridCol w="1737360"/>
              </a:tblGrid>
              <a:tr h="640080">
                <a:tc>
                  <a:txBody>
                    <a:bodyPr/>
                    <a:lstStyle/>
                    <a:p>
                      <a:pPr>
                        <a:defRPr sz="2200" b="1">
                          <a:solidFill>
                            <a:srgbClr val="15293C"/>
                          </a:solidFill>
                          <a:latin typeface="Calibri"/>
                        </a:defRPr>
                      </a:pPr>
                      <a:r>
                        <a:t>Tick</a:t>
                      </a:r>
                    </a:p>
                  </a:txBody>
                  <a:tcPr>
                    <a:solidFill>
                      <a:srgbClr val="DEE8EF"/>
                    </a:solidFill>
                  </a:tcPr>
                </a:tc>
                <a:tc>
                  <a:txBody>
                    <a:bodyPr/>
                    <a:lstStyle/>
                    <a:p>
                      <a:pPr>
                        <a:defRPr sz="2200" b="1">
                          <a:solidFill>
                            <a:srgbClr val="15293C"/>
                          </a:solidFill>
                          <a:latin typeface="Calibri"/>
                        </a:defRPr>
                      </a:pPr>
                      <a:r>
                        <a:t>A</a:t>
                      </a:r>
                    </a:p>
                  </a:txBody>
                  <a:tcPr>
                    <a:solidFill>
                      <a:srgbClr val="DEE8EF"/>
                    </a:solidFill>
                  </a:tcPr>
                </a:tc>
                <a:tc>
                  <a:txBody>
                    <a:bodyPr/>
                    <a:lstStyle/>
                    <a:p>
                      <a:pPr>
                        <a:defRPr sz="2200" b="1">
                          <a:solidFill>
                            <a:srgbClr val="15293C"/>
                          </a:solidFill>
                          <a:latin typeface="Calibri"/>
                        </a:defRPr>
                      </a:pPr>
                      <a:r>
                        <a:t>B</a:t>
                      </a:r>
                    </a:p>
                  </a:txBody>
                  <a:tcPr>
                    <a:solidFill>
                      <a:srgbClr val="DEE8EF"/>
                    </a:solidFill>
                  </a:tcPr>
                </a:tc>
              </a:tr>
              <a:tr h="640080">
                <a:tc>
                  <a:txBody>
                    <a:bodyPr/>
                    <a:lstStyle/>
                    <a:p>
                      <a:pPr>
                        <a:defRPr sz="2200" b="0">
                          <a:solidFill>
                            <a:srgbClr val="15293C"/>
                          </a:solidFill>
                          <a:latin typeface="Calibri"/>
                        </a:defRPr>
                      </a:pPr>
                      <a:r>
                        <a:t>0</a:t>
                      </a:r>
                    </a:p>
                  </a:txBody>
                  <a:tcPr>
                    <a:solidFill>
                      <a:srgbClr val="F7F9FB"/>
                    </a:solidFill>
                  </a:tcPr>
                </a:tc>
                <a:tc>
                  <a:txBody>
                    <a:bodyPr/>
                    <a:lstStyle/>
                    <a:p>
                      <a:pPr>
                        <a:defRPr sz="2200" b="0">
                          <a:solidFill>
                            <a:srgbClr val="15293C"/>
                          </a:solidFill>
                          <a:latin typeface="Calibri"/>
                        </a:defRPr>
                      </a:pPr>
                      <a:r>
                        <a:t>(0, 1)</a:t>
                      </a:r>
                    </a:p>
                  </a:txBody>
                  <a:tcPr>
                    <a:solidFill>
                      <a:srgbClr val="F7F9FB"/>
                    </a:solidFill>
                  </a:tcPr>
                </a:tc>
                <a:tc>
                  <a:txBody>
                    <a:bodyPr/>
                    <a:lstStyle/>
                    <a:p>
                      <a:pPr>
                        <a:defRPr sz="2200" b="0">
                          <a:solidFill>
                            <a:srgbClr val="15293C"/>
                          </a:solidFill>
                          <a:latin typeface="Calibri"/>
                        </a:defRPr>
                      </a:pPr>
                      <a:r>
                        <a:t>(1, 0)</a:t>
                      </a:r>
                    </a:p>
                  </a:txBody>
                  <a:tcPr>
                    <a:solidFill>
                      <a:srgbClr val="F7F9FB"/>
                    </a:solidFill>
                  </a:tcPr>
                </a:tc>
              </a:tr>
              <a:tr h="640080">
                <a:tc>
                  <a:txBody>
                    <a:bodyPr/>
                    <a:lstStyle/>
                    <a:p>
                      <a:pPr>
                        <a:defRPr sz="2200" b="0">
                          <a:solidFill>
                            <a:srgbClr val="15293C"/>
                          </a:solidFill>
                          <a:latin typeface="Calibri"/>
                        </a:defRPr>
                      </a:pPr>
                      <a:r>
                        <a:t>1</a:t>
                      </a:r>
                    </a:p>
                  </a:txBody>
                  <a:tcPr>
                    <a:solidFill>
                      <a:srgbClr val="F7F9FB"/>
                    </a:solidFill>
                  </a:tcPr>
                </a:tc>
                <a:tc>
                  <a:txBody>
                    <a:bodyPr/>
                    <a:lstStyle/>
                    <a:p>
                      <a:pPr>
                        <a:defRPr sz="2200" b="0">
                          <a:solidFill>
                            <a:srgbClr val="15293C"/>
                          </a:solidFill>
                          <a:latin typeface="Calibri"/>
                        </a:defRPr>
                      </a:pPr>
                      <a:r>
                        <a:t>(1, 1)</a:t>
                      </a:r>
                    </a:p>
                  </a:txBody>
                  <a:tcPr>
                    <a:solidFill>
                      <a:srgbClr val="F7F9FB"/>
                    </a:solidFill>
                  </a:tcPr>
                </a:tc>
                <a:tc>
                  <a:txBody>
                    <a:bodyPr/>
                    <a:lstStyle/>
                    <a:p>
                      <a:pPr>
                        <a:defRPr sz="2200" b="0">
                          <a:solidFill>
                            <a:srgbClr val="15293C"/>
                          </a:solidFill>
                          <a:latin typeface="Calibri"/>
                        </a:defRPr>
                      </a:pPr>
                      <a:r>
                        <a:t>(1, 0)</a:t>
                      </a:r>
                    </a:p>
                  </a:txBody>
                  <a:tcPr>
                    <a:solidFill>
                      <a:srgbClr val="F7F9FB"/>
                    </a:solidFill>
                  </a:tcPr>
                </a:tc>
              </a:tr>
              <a:tr h="640080">
                <a:tc>
                  <a:txBody>
                    <a:bodyPr/>
                    <a:lstStyle/>
                    <a:p>
                      <a:pPr>
                        <a:defRPr sz="2200" b="0">
                          <a:solidFill>
                            <a:srgbClr val="15293C"/>
                          </a:solidFill>
                          <a:latin typeface="Calibri"/>
                        </a:defRPr>
                      </a:pPr>
                      <a:r>
                        <a:t>2</a:t>
                      </a:r>
                    </a:p>
                  </a:txBody>
                  <a:tcPr>
                    <a:solidFill>
                      <a:srgbClr val="F7F9FB"/>
                    </a:solidFill>
                  </a:tcPr>
                </a:tc>
                <a:tc>
                  <a:txBody>
                    <a:bodyPr/>
                    <a:lstStyle/>
                    <a:p>
                      <a:pPr>
                        <a:defRPr sz="2200" b="0">
                          <a:solidFill>
                            <a:srgbClr val="15293C"/>
                          </a:solidFill>
                          <a:latin typeface="Calibri"/>
                        </a:defRPr>
                      </a:pPr>
                      <a:r>
                        <a:t>(2, 1)</a:t>
                      </a:r>
                    </a:p>
                  </a:txBody>
                  <a:tcPr>
                    <a:solidFill>
                      <a:srgbClr val="F7F9FB"/>
                    </a:solidFill>
                  </a:tcPr>
                </a:tc>
                <a:tc>
                  <a:txBody>
                    <a:bodyPr/>
                    <a:lstStyle/>
                    <a:p>
                      <a:pPr>
                        <a:defRPr sz="2200" b="0">
                          <a:solidFill>
                            <a:srgbClr val="15293C"/>
                          </a:solidFill>
                          <a:latin typeface="Calibri"/>
                        </a:defRPr>
                      </a:pPr>
                      <a:r>
                        <a:t>(1, 1)</a:t>
                      </a:r>
                    </a:p>
                  </a:txBody>
                  <a:tcPr>
                    <a:solidFill>
                      <a:srgbClr val="F7F9FB"/>
                    </a:solidFill>
                  </a:tcPr>
                </a:tc>
              </a:tr>
              <a:tr h="640080">
                <a:tc>
                  <a:txBody>
                    <a:bodyPr/>
                    <a:lstStyle/>
                    <a:p>
                      <a:pPr>
                        <a:defRPr sz="2200" b="0">
                          <a:solidFill>
                            <a:srgbClr val="15293C"/>
                          </a:solidFill>
                          <a:latin typeface="Calibri"/>
                        </a:defRPr>
                      </a:pPr>
                      <a:r>
                        <a:t>3</a:t>
                      </a:r>
                    </a:p>
                  </a:txBody>
                  <a:tcPr>
                    <a:solidFill>
                      <a:srgbClr val="F7F9FB"/>
                    </a:solidFill>
                  </a:tcPr>
                </a:tc>
                <a:tc>
                  <a:txBody>
                    <a:bodyPr/>
                    <a:lstStyle/>
                    <a:p>
                      <a:pPr>
                        <a:defRPr sz="2200" b="0">
                          <a:solidFill>
                            <a:srgbClr val="15293C"/>
                          </a:solidFill>
                          <a:latin typeface="Calibri"/>
                        </a:defRPr>
                      </a:pPr>
                      <a:r>
                        <a:t>(2, 1)</a:t>
                      </a:r>
                    </a:p>
                  </a:txBody>
                  <a:tcPr>
                    <a:solidFill>
                      <a:srgbClr val="F7F9FB"/>
                    </a:solidFill>
                  </a:tcPr>
                </a:tc>
                <a:tc>
                  <a:txBody>
                    <a:bodyPr/>
                    <a:lstStyle/>
                    <a:p>
                      <a:pPr>
                        <a:defRPr sz="2200" b="0">
                          <a:solidFill>
                            <a:srgbClr val="15293C"/>
                          </a:solidFill>
                          <a:latin typeface="Calibri"/>
                        </a:defRPr>
                      </a:pPr>
                      <a:r>
                        <a:t>(1, 2)</a:t>
                      </a:r>
                    </a:p>
                  </a:txBody>
                  <a:tcPr>
                    <a:solidFill>
                      <a:srgbClr val="F7F9FB"/>
                    </a:solidFill>
                  </a:tcPr>
                </a:tc>
              </a:tr>
            </a:tbl>
          </a:graphicData>
        </a:graphic>
      </p:graphicFrame>
      <p:sp>
        <p:nvSpPr>
          <p:cNvPr id="6" name="TextBox 5"/>
          <p:cNvSpPr txBox="1"/>
          <p:nvPr/>
        </p:nvSpPr>
        <p:spPr>
          <a:xfrm>
            <a:off x="6217920" y="5074920"/>
            <a:ext cx="5212080" cy="640080"/>
          </a:xfrm>
          <a:prstGeom prst="rect">
            <a:avLst/>
          </a:prstGeom>
          <a:noFill/>
        </p:spPr>
        <p:txBody>
          <a:bodyPr wrap="square" lIns="27432" rIns="27432">
            <a:spAutoFit/>
          </a:bodyPr>
          <a:lstStyle/>
          <a:p>
            <a:pPr>
              <a:spcAft>
                <a:spcPts val="1400"/>
              </a:spcAft>
              <a:defRPr sz="2300" b="0">
                <a:solidFill>
                  <a:srgbClr val="00736E"/>
                </a:solidFill>
                <a:latin typeface="Calibri"/>
              </a:defRPr>
            </a:pPr>
            <a:r>
              <a:t>B waits one tick before the crossing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Reservation table semantics</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7</a:t>
            </a:r>
          </a:p>
        </p:txBody>
      </p:sp>
      <p:sp>
        <p:nvSpPr>
          <p:cNvPr id="4" name="TextBox 3"/>
          <p:cNvSpPr txBox="1"/>
          <p:nvPr/>
        </p:nvSpPr>
        <p:spPr>
          <a:xfrm>
            <a:off x="640080" y="1463040"/>
            <a:ext cx="10789920" cy="4572000"/>
          </a:xfrm>
          <a:prstGeom prst="rect">
            <a:avLst/>
          </a:prstGeom>
          <a:noFill/>
        </p:spPr>
        <p:txBody>
          <a:bodyPr wrap="square" lIns="27432" rIns="27432">
            <a:spAutoFit/>
          </a:bodyPr>
          <a:lstStyle/>
          <a:p>
            <a:pPr>
              <a:spcAft>
                <a:spcPts val="1400"/>
              </a:spcAft>
              <a:defRPr sz="2500" b="0">
                <a:solidFill>
                  <a:srgbClr val="15293C"/>
                </a:solidFill>
                <a:latin typeface="Calibri"/>
              </a:defRPr>
            </a:pPr>
            <a:r>
              <a:t>Vertex (cell,t) includes tick zero</a:t>
            </a:r>
          </a:p>
          <a:p>
            <a:pPr>
              <a:spcAft>
                <a:spcPts val="1400"/>
              </a:spcAft>
              <a:defRPr sz="2500" b="0">
                <a:solidFill>
                  <a:srgbClr val="15293C"/>
                </a:solidFill>
                <a:latin typeface="Calibri"/>
              </a:defRPr>
            </a:pPr>
            <a:r>
              <a:t>Edge (u,v,t) represents interval t to t+1</a:t>
            </a:r>
          </a:p>
          <a:p>
            <a:pPr>
              <a:spcAft>
                <a:spcPts val="1400"/>
              </a:spcAft>
              <a:defRPr sz="2500" b="0">
                <a:solidFill>
                  <a:srgbClr val="15293C"/>
                </a:solidFill>
                <a:latin typeface="Calibri"/>
              </a:defRPr>
            </a:pPr>
            <a:r>
              <a:t>Reject the reserved reverse traversal (v,u,t)</a:t>
            </a:r>
          </a:p>
          <a:p>
            <a:pPr>
              <a:spcAft>
                <a:spcPts val="1400"/>
              </a:spcAft>
              <a:defRPr sz="2500" b="0">
                <a:solidFill>
                  <a:srgbClr val="15293C"/>
                </a:solidFill>
                <a:latin typeface="Calibri"/>
              </a:defRPr>
            </a:pPr>
            <a:r>
              <a:t>Permanent goal reservations continue indefinitely</a:t>
            </a:r>
          </a:p>
          <a:p>
            <a:pPr>
              <a:spcAft>
                <a:spcPts val="1400"/>
              </a:spcAft>
              <a:defRPr sz="2500" b="0">
                <a:solidFill>
                  <a:srgbClr val="15293C"/>
                </a:solidFill>
                <a:latin typeface="Calibri"/>
              </a:defRPr>
            </a:pPr>
            <a:r>
              <a:t>Future finite visits also prevent early terminal acceptance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Implementation and planning flow</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8</a:t>
            </a:r>
          </a:p>
        </p:txBody>
      </p:sp>
      <p:sp>
        <p:nvSpPr>
          <p:cNvPr id="4" name="TextBox 3"/>
          <p:cNvSpPr txBox="1"/>
          <p:nvPr/>
        </p:nvSpPr>
        <p:spPr>
          <a:xfrm>
            <a:off x="640080" y="1463040"/>
            <a:ext cx="10789920" cy="4572000"/>
          </a:xfrm>
          <a:prstGeom prst="rect">
            <a:avLst/>
          </a:prstGeom>
          <a:noFill/>
        </p:spPr>
        <p:txBody>
          <a:bodyPr wrap="square" lIns="27432" rIns="27432">
            <a:spAutoFit/>
          </a:bodyPr>
          <a:lstStyle/>
          <a:p>
            <a:pPr>
              <a:spcAft>
                <a:spcPts val="1400"/>
              </a:spcAft>
              <a:defRPr sz="2500" b="0">
                <a:solidFill>
                  <a:srgbClr val="15293C"/>
                </a:solidFill>
                <a:latin typeface="Calibri"/>
              </a:defRPr>
            </a:pPr>
            <a:r>
              <a:t>Scenario validation and spatial preflight</a:t>
            </a:r>
          </a:p>
          <a:p>
            <a:pPr>
              <a:spcAft>
                <a:spcPts val="1400"/>
              </a:spcAft>
              <a:defRPr sz="2500" b="0">
                <a:solidFill>
                  <a:srgbClr val="15293C"/>
                </a:solidFill>
                <a:latin typeface="Calibri"/>
              </a:defRPr>
            </a:pPr>
            <a:r>
              <a:t>Fresh reservation table for each priority attempt</a:t>
            </a:r>
          </a:p>
          <a:p>
            <a:pPr>
              <a:spcAft>
                <a:spcPts val="1400"/>
              </a:spcAft>
              <a:defRPr sz="2500" b="0">
                <a:solidFill>
                  <a:srgbClr val="15293C"/>
                </a:solidFill>
                <a:latin typeface="Calibri"/>
              </a:defRPr>
            </a:pPr>
            <a:r>
              <a:t>Space-time A* commits one route at a time</a:t>
            </a:r>
          </a:p>
          <a:p>
            <a:pPr>
              <a:spcAft>
                <a:spcPts val="1400"/>
              </a:spcAft>
              <a:defRPr sz="2500" b="0">
                <a:solidFill>
                  <a:srgbClr val="15293C"/>
                </a:solidFill>
                <a:latin typeface="Calibri"/>
              </a:defRPr>
            </a:pPr>
            <a:r>
              <a:t>Independent joint validator checks complete paths</a:t>
            </a:r>
          </a:p>
          <a:p>
            <a:pPr>
              <a:spcAft>
                <a:spcPts val="1400"/>
              </a:spcAft>
              <a:defRPr sz="2500" b="0">
                <a:solidFill>
                  <a:srgbClr val="15293C"/>
                </a:solidFill>
                <a:latin typeface="Calibri"/>
              </a:defRPr>
            </a:pPr>
            <a:r>
              <a:t>Self-contained plan JSON feeds replay and export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Simulation and live demo</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9</a:t>
            </a:r>
          </a:p>
        </p:txBody>
      </p:sp>
      <p:pic>
        <p:nvPicPr>
          <p:cNvPr id="4" name="Picture 3" descr="default_tick10.png"/>
          <p:cNvPicPr>
            <a:picLocks noChangeAspect="1"/>
          </p:cNvPicPr>
          <p:nvPr/>
        </p:nvPicPr>
        <p:blipFill>
          <a:blip r:embed="rId3"/>
          <a:stretch>
            <a:fillRect/>
          </a:stretch>
        </p:blipFill>
        <p:spPr>
          <a:xfrm>
            <a:off x="685800" y="1280160"/>
            <a:ext cx="6858000" cy="4987636"/>
          </a:xfrm>
          <a:prstGeom prst="rect">
            <a:avLst/>
          </a:prstGeom>
        </p:spPr>
      </p:pic>
      <p:sp>
        <p:nvSpPr>
          <p:cNvPr id="5" name="TextBox 4"/>
          <p:cNvSpPr txBox="1"/>
          <p:nvPr/>
        </p:nvSpPr>
        <p:spPr>
          <a:xfrm>
            <a:off x="7909560" y="1554480"/>
            <a:ext cx="3657600" cy="4389120"/>
          </a:xfrm>
          <a:prstGeom prst="rect">
            <a:avLst/>
          </a:prstGeom>
          <a:noFill/>
        </p:spPr>
        <p:txBody>
          <a:bodyPr wrap="square" lIns="27432" rIns="27432">
            <a:spAutoFit/>
          </a:bodyPr>
          <a:lstStyle/>
          <a:p>
            <a:pPr>
              <a:spcAft>
                <a:spcPts val="1400"/>
              </a:spcAft>
              <a:defRPr sz="2400" b="0">
                <a:solidFill>
                  <a:srgbClr val="15293C"/>
                </a:solidFill>
                <a:latin typeface="Calibri"/>
              </a:defRPr>
            </a:pPr>
            <a:r>
              <a:t>Play/pause, Step and Reset</a:t>
            </a:r>
          </a:p>
          <a:p>
            <a:pPr>
              <a:spcAft>
                <a:spcPts val="1400"/>
              </a:spcAft>
              <a:defRPr sz="2400" b="0">
                <a:solidFill>
                  <a:srgbClr val="15293C"/>
                </a:solidFill>
                <a:latin typeface="Calibri"/>
              </a:defRPr>
            </a:pPr>
            <a:r>
              <a:t>Playback speed and overlays</a:t>
            </a:r>
          </a:p>
          <a:p>
            <a:pPr>
              <a:spcAft>
                <a:spcPts val="1400"/>
              </a:spcAft>
              <a:defRPr sz="2400" b="0">
                <a:solidFill>
                  <a:srgbClr val="15293C"/>
                </a:solidFill>
                <a:latin typeface="Calibri"/>
              </a:defRPr>
            </a:pPr>
            <a:r>
              <a:t>Cost 111, makespan 21</a:t>
            </a:r>
          </a:p>
          <a:p>
            <a:pPr>
              <a:spcAft>
                <a:spcPts val="1400"/>
              </a:spcAft>
              <a:defRPr sz="2400" b="0">
                <a:solidFill>
                  <a:srgbClr val="15293C"/>
                </a:solidFill>
                <a:latin typeface="Calibri"/>
              </a:defRPr>
            </a:pPr>
            <a:r>
              <a:t>110 moves and 1 wait</a:t>
            </a:r>
          </a:p>
          <a:p>
            <a:pPr>
              <a:spcAft>
                <a:spcPts val="1400"/>
              </a:spcAft>
              <a:defRPr sz="2400" b="0">
                <a:solidFill>
                  <a:srgbClr val="15293C"/>
                </a:solidFill>
                <a:latin typeface="Calibri"/>
              </a:defRPr>
            </a:pPr>
            <a:r>
              <a:t>Zero detected conflicts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Experiment design and fair comparison</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10</a:t>
            </a:r>
          </a:p>
        </p:txBody>
      </p:sp>
      <p:sp>
        <p:nvSpPr>
          <p:cNvPr id="4" name="TextBox 3"/>
          <p:cNvSpPr txBox="1"/>
          <p:nvPr/>
        </p:nvSpPr>
        <p:spPr>
          <a:xfrm>
            <a:off x="640080" y="1463040"/>
            <a:ext cx="10789920" cy="4572000"/>
          </a:xfrm>
          <a:prstGeom prst="rect">
            <a:avLst/>
          </a:prstGeom>
          <a:noFill/>
        </p:spPr>
        <p:txBody>
          <a:bodyPr wrap="square" lIns="27432" rIns="27432">
            <a:spAutoFit/>
          </a:bodyPr>
          <a:lstStyle/>
          <a:p>
            <a:pPr>
              <a:spcAft>
                <a:spcPts val="1400"/>
              </a:spcAft>
              <a:defRPr sz="2500" b="0">
                <a:solidFill>
                  <a:srgbClr val="15293C"/>
                </a:solidFill>
                <a:latin typeface="Calibri"/>
              </a:defRPr>
            </a:pPr>
            <a:r>
              <a:t>Same 20 aggregate instances for all algorithms</a:t>
            </a:r>
          </a:p>
          <a:p>
            <a:pPr>
              <a:spcAft>
                <a:spcPts val="1400"/>
              </a:spcAft>
              <a:defRPr sz="2500" b="0">
                <a:solidFill>
                  <a:srgbClr val="15293C"/>
                </a:solidFill>
                <a:latin typeface="Calibri"/>
              </a:defRPr>
            </a:pPr>
            <a:r>
              <a:t>Robot counts 2, 4, 6, 8 with five seeds each</a:t>
            </a:r>
          </a:p>
          <a:p>
            <a:pPr>
              <a:spcAft>
                <a:spcPts val="1400"/>
              </a:spcAft>
              <a:defRPr sz="2500" b="0">
                <a:solidFill>
                  <a:srgbClr val="15293C"/>
                </a:solidFill>
                <a:latin typeface="Calibri"/>
              </a:defRPr>
            </a:pPr>
            <a:r>
              <a:t>Six separate diagnostic scenarios</a:t>
            </a:r>
          </a:p>
          <a:p>
            <a:pPr>
              <a:spcAft>
                <a:spcPts val="1400"/>
              </a:spcAft>
              <a:defRPr sz="2500" b="0">
                <a:solidFill>
                  <a:srgbClr val="15293C"/>
                </a:solidFill>
                <a:latin typeface="Calibri"/>
              </a:defRPr>
            </a:pPr>
            <a:r>
              <a:t>Horizons 40 and 80, expansion cap 30,000</a:t>
            </a:r>
          </a:p>
          <a:p>
            <a:pPr>
              <a:spcAft>
                <a:spcPts val="1400"/>
              </a:spcAft>
              <a:defRPr sz="2500" b="0">
                <a:solidFill>
                  <a:srgbClr val="15293C"/>
                </a:solidFill>
                <a:latin typeface="Calibri"/>
              </a:defRPr>
            </a:pPr>
            <a:r>
              <a:t>Rates use all cases, costs use valid cases</a:t>
            </a:r>
          </a:p>
          <a:p>
            <a:pPr>
              <a:spcAft>
                <a:spcPts val="1400"/>
              </a:spcAft>
              <a:defRPr sz="2500" b="0">
                <a:solidFill>
                  <a:srgbClr val="15293C"/>
                </a:solidFill>
                <a:latin typeface="Calibri"/>
              </a:defRPr>
            </a:pPr>
            <a:r>
              <a:t>Timing includes failed attempts and excludes rendering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Measured completion and planning time</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11</a:t>
            </a:r>
          </a:p>
        </p:txBody>
      </p:sp>
      <p:graphicFrame>
        <p:nvGraphicFramePr>
          <p:cNvPr id="4" name="Chart 3"/>
          <p:cNvGraphicFramePr>
            <a:graphicFrameLocks noGrp="1"/>
          </p:cNvGraphicFramePr>
          <p:nvPr/>
        </p:nvGraphicFramePr>
        <p:xfrm>
          <a:off x="548640" y="1417320"/>
          <a:ext cx="5486400" cy="4206240"/>
        </p:xfrm>
        <a:graphic>
          <a:graphicData uri="http://schemas.openxmlformats.org/drawingml/2006/chart">
            <c:chart xmlns:c="http://schemas.openxmlformats.org/drawingml/2006/chart" r:id="rId3"/>
          </a:graphicData>
        </a:graphic>
      </p:graphicFrame>
      <p:graphicFrame>
        <p:nvGraphicFramePr>
          <p:cNvPr id="5" name="Chart 4"/>
          <p:cNvGraphicFramePr>
            <a:graphicFrameLocks noGrp="1"/>
          </p:cNvGraphicFramePr>
          <p:nvPr/>
        </p:nvGraphicFramePr>
        <p:xfrm>
          <a:off x="6217920" y="1417320"/>
          <a:ext cx="5486400" cy="4206240"/>
        </p:xfrm>
        <a:graphic>
          <a:graphicData uri="http://schemas.openxmlformats.org/drawingml/2006/chart">
            <c:chart xmlns:c="http://schemas.openxmlformats.org/drawingml/2006/chart" r:id="rId4"/>
          </a:graphicData>
        </a:graphic>
      </p:graphicFrame>
      <p:sp>
        <p:nvSpPr>
          <p:cNvPr id="6" name="TextBox 5"/>
          <p:cNvSpPr txBox="1"/>
          <p:nvPr/>
        </p:nvSpPr>
        <p:spPr>
          <a:xfrm>
            <a:off x="731520" y="5852160"/>
            <a:ext cx="10789920" cy="594360"/>
          </a:xfrm>
          <a:prstGeom prst="rect">
            <a:avLst/>
          </a:prstGeom>
          <a:noFill/>
        </p:spPr>
        <p:txBody>
          <a:bodyPr wrap="square" lIns="27432" rIns="27432">
            <a:spAutoFit/>
          </a:bodyPr>
          <a:lstStyle/>
          <a:p>
            <a:pPr>
              <a:spcAft>
                <a:spcPts val="1400"/>
              </a:spcAft>
              <a:defRPr sz="2100" b="0">
                <a:solidFill>
                  <a:srgbClr val="15293C"/>
                </a:solidFill>
                <a:latin typeface="Calibri"/>
              </a:defRPr>
            </a:pPr>
            <a:r>
              <a:t>Five seeds per robot count. Both coordinators safely complete 20/20 sampled cases.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Priority portfolios can increase travel cost</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12</a:t>
            </a:r>
          </a:p>
        </p:txBody>
      </p:sp>
      <p:graphicFrame>
        <p:nvGraphicFramePr>
          <p:cNvPr id="4" name="Table 3"/>
          <p:cNvGraphicFramePr>
            <a:graphicFrameLocks noGrp="1"/>
          </p:cNvGraphicFramePr>
          <p:nvPr/>
        </p:nvGraphicFramePr>
        <p:xfrm>
          <a:off x="731520" y="1554480"/>
          <a:ext cx="10698480" cy="2743200"/>
        </p:xfrm>
        <a:graphic>
          <a:graphicData uri="http://schemas.openxmlformats.org/drawingml/2006/table">
            <a:tbl>
              <a:tblPr firstRow="1" bandRow="1">
                <a:tableStyleId>{5C22544A-7EE6-4342-B048-85BDC9FD1C3A}</a:tableStyleId>
              </a:tblPr>
              <a:tblGrid>
                <a:gridCol w="2674620"/>
                <a:gridCol w="2674620"/>
                <a:gridCol w="2674620"/>
                <a:gridCol w="2674620"/>
              </a:tblGrid>
              <a:tr h="548640">
                <a:tc>
                  <a:txBody>
                    <a:bodyPr/>
                    <a:lstStyle/>
                    <a:p>
                      <a:pPr>
                        <a:defRPr sz="2400" b="1">
                          <a:solidFill>
                            <a:srgbClr val="15293C"/>
                          </a:solidFill>
                          <a:latin typeface="Calibri"/>
                        </a:defRPr>
                      </a:pPr>
                      <a:r>
                        <a:t>Robots</a:t>
                      </a:r>
                    </a:p>
                  </a:txBody>
                  <a:tcPr>
                    <a:solidFill>
                      <a:srgbClr val="DEE8EF"/>
                    </a:solidFill>
                  </a:tcPr>
                </a:tc>
                <a:tc>
                  <a:txBody>
                    <a:bodyPr/>
                    <a:lstStyle/>
                    <a:p>
                      <a:pPr>
                        <a:defRPr sz="2400" b="1">
                          <a:solidFill>
                            <a:srgbClr val="15293C"/>
                          </a:solidFill>
                          <a:latin typeface="Calibri"/>
                        </a:defRPr>
                      </a:pPr>
                      <a:r>
                        <a:t>Fixed cost</a:t>
                      </a:r>
                    </a:p>
                  </a:txBody>
                  <a:tcPr>
                    <a:solidFill>
                      <a:srgbClr val="DEE8EF"/>
                    </a:solidFill>
                  </a:tcPr>
                </a:tc>
                <a:tc>
                  <a:txBody>
                    <a:bodyPr/>
                    <a:lstStyle/>
                    <a:p>
                      <a:pPr>
                        <a:defRPr sz="2400" b="1">
                          <a:solidFill>
                            <a:srgbClr val="15293C"/>
                          </a:solidFill>
                          <a:latin typeface="Calibri"/>
                        </a:defRPr>
                      </a:pPr>
                      <a:r>
                        <a:t>Portfolio cost</a:t>
                      </a:r>
                    </a:p>
                  </a:txBody>
                  <a:tcPr>
                    <a:solidFill>
                      <a:srgbClr val="DEE8EF"/>
                    </a:solidFill>
                  </a:tcPr>
                </a:tc>
                <a:tc>
                  <a:txBody>
                    <a:bodyPr/>
                    <a:lstStyle/>
                    <a:p>
                      <a:pPr>
                        <a:defRPr sz="2400" b="1">
                          <a:solidFill>
                            <a:srgbClr val="15293C"/>
                          </a:solidFill>
                          <a:latin typeface="Calibri"/>
                        </a:defRPr>
                      </a:pPr>
                      <a:r>
                        <a:t>Paired delta</a:t>
                      </a:r>
                    </a:p>
                  </a:txBody>
                  <a:tcPr>
                    <a:solidFill>
                      <a:srgbClr val="DEE8EF"/>
                    </a:solidFill>
                  </a:tcPr>
                </a:tc>
              </a:tr>
              <a:tr h="548640">
                <a:tc>
                  <a:txBody>
                    <a:bodyPr/>
                    <a:lstStyle/>
                    <a:p>
                      <a:pPr>
                        <a:defRPr sz="2400" b="0">
                          <a:solidFill>
                            <a:srgbClr val="15293C"/>
                          </a:solidFill>
                          <a:latin typeface="Calibri"/>
                        </a:defRPr>
                      </a:pPr>
                      <a:r>
                        <a:t>2</a:t>
                      </a:r>
                    </a:p>
                  </a:txBody>
                  <a:tcPr>
                    <a:solidFill>
                      <a:srgbClr val="F7F9FB"/>
                    </a:solidFill>
                  </a:tcPr>
                </a:tc>
                <a:tc>
                  <a:txBody>
                    <a:bodyPr/>
                    <a:lstStyle/>
                    <a:p>
                      <a:pPr>
                        <a:defRPr sz="2400" b="0">
                          <a:solidFill>
                            <a:srgbClr val="15293C"/>
                          </a:solidFill>
                          <a:latin typeface="Calibri"/>
                        </a:defRPr>
                      </a:pPr>
                      <a:r>
                        <a:t>24.6</a:t>
                      </a:r>
                    </a:p>
                  </a:txBody>
                  <a:tcPr>
                    <a:solidFill>
                      <a:srgbClr val="F7F9FB"/>
                    </a:solidFill>
                  </a:tcPr>
                </a:tc>
                <a:tc>
                  <a:txBody>
                    <a:bodyPr/>
                    <a:lstStyle/>
                    <a:p>
                      <a:pPr>
                        <a:defRPr sz="2400" b="0">
                          <a:solidFill>
                            <a:srgbClr val="15293C"/>
                          </a:solidFill>
                          <a:latin typeface="Calibri"/>
                        </a:defRPr>
                      </a:pPr>
                      <a:r>
                        <a:t>24.6</a:t>
                      </a:r>
                    </a:p>
                  </a:txBody>
                  <a:tcPr>
                    <a:solidFill>
                      <a:srgbClr val="F7F9FB"/>
                    </a:solidFill>
                  </a:tcPr>
                </a:tc>
                <a:tc>
                  <a:txBody>
                    <a:bodyPr/>
                    <a:lstStyle/>
                    <a:p>
                      <a:pPr>
                        <a:defRPr sz="2400" b="0">
                          <a:solidFill>
                            <a:srgbClr val="15293C"/>
                          </a:solidFill>
                          <a:latin typeface="Calibri"/>
                        </a:defRPr>
                      </a:pPr>
                      <a:r>
                        <a:t>0</a:t>
                      </a:r>
                    </a:p>
                  </a:txBody>
                  <a:tcPr>
                    <a:solidFill>
                      <a:srgbClr val="F7F9FB"/>
                    </a:solidFill>
                  </a:tcPr>
                </a:tc>
              </a:tr>
              <a:tr h="548640">
                <a:tc>
                  <a:txBody>
                    <a:bodyPr/>
                    <a:lstStyle/>
                    <a:p>
                      <a:pPr>
                        <a:defRPr sz="2400" b="0">
                          <a:solidFill>
                            <a:srgbClr val="15293C"/>
                          </a:solidFill>
                          <a:latin typeface="Calibri"/>
                        </a:defRPr>
                      </a:pPr>
                      <a:r>
                        <a:t>4</a:t>
                      </a:r>
                    </a:p>
                  </a:txBody>
                  <a:tcPr>
                    <a:solidFill>
                      <a:srgbClr val="F7F9FB"/>
                    </a:solidFill>
                  </a:tcPr>
                </a:tc>
                <a:tc>
                  <a:txBody>
                    <a:bodyPr/>
                    <a:lstStyle/>
                    <a:p>
                      <a:pPr>
                        <a:defRPr sz="2400" b="0">
                          <a:solidFill>
                            <a:srgbClr val="15293C"/>
                          </a:solidFill>
                          <a:latin typeface="Calibri"/>
                        </a:defRPr>
                      </a:pPr>
                      <a:r>
                        <a:t>44.6</a:t>
                      </a:r>
                    </a:p>
                  </a:txBody>
                  <a:tcPr>
                    <a:solidFill>
                      <a:srgbClr val="F7F9FB"/>
                    </a:solidFill>
                  </a:tcPr>
                </a:tc>
                <a:tc>
                  <a:txBody>
                    <a:bodyPr/>
                    <a:lstStyle/>
                    <a:p>
                      <a:pPr>
                        <a:defRPr sz="2400" b="0">
                          <a:solidFill>
                            <a:srgbClr val="15293C"/>
                          </a:solidFill>
                          <a:latin typeface="Calibri"/>
                        </a:defRPr>
                      </a:pPr>
                      <a:r>
                        <a:t>44.6</a:t>
                      </a:r>
                    </a:p>
                  </a:txBody>
                  <a:tcPr>
                    <a:solidFill>
                      <a:srgbClr val="F7F9FB"/>
                    </a:solidFill>
                  </a:tcPr>
                </a:tc>
                <a:tc>
                  <a:txBody>
                    <a:bodyPr/>
                    <a:lstStyle/>
                    <a:p>
                      <a:pPr>
                        <a:defRPr sz="2400" b="0">
                          <a:solidFill>
                            <a:srgbClr val="15293C"/>
                          </a:solidFill>
                          <a:latin typeface="Calibri"/>
                        </a:defRPr>
                      </a:pPr>
                      <a:r>
                        <a:t>0</a:t>
                      </a:r>
                    </a:p>
                  </a:txBody>
                  <a:tcPr>
                    <a:solidFill>
                      <a:srgbClr val="F7F9FB"/>
                    </a:solidFill>
                  </a:tcPr>
                </a:tc>
              </a:tr>
              <a:tr h="548640">
                <a:tc>
                  <a:txBody>
                    <a:bodyPr/>
                    <a:lstStyle/>
                    <a:p>
                      <a:pPr>
                        <a:defRPr sz="2400" b="0">
                          <a:solidFill>
                            <a:srgbClr val="15293C"/>
                          </a:solidFill>
                          <a:latin typeface="Calibri"/>
                        </a:defRPr>
                      </a:pPr>
                      <a:r>
                        <a:t>6</a:t>
                      </a:r>
                    </a:p>
                  </a:txBody>
                  <a:tcPr>
                    <a:solidFill>
                      <a:srgbClr val="F7F9FB"/>
                    </a:solidFill>
                  </a:tcPr>
                </a:tc>
                <a:tc>
                  <a:txBody>
                    <a:bodyPr/>
                    <a:lstStyle/>
                    <a:p>
                      <a:pPr>
                        <a:defRPr sz="2400" b="0">
                          <a:solidFill>
                            <a:srgbClr val="15293C"/>
                          </a:solidFill>
                          <a:latin typeface="Calibri"/>
                        </a:defRPr>
                      </a:pPr>
                      <a:r>
                        <a:t>75.4</a:t>
                      </a:r>
                    </a:p>
                  </a:txBody>
                  <a:tcPr>
                    <a:solidFill>
                      <a:srgbClr val="F7F9FB"/>
                    </a:solidFill>
                  </a:tcPr>
                </a:tc>
                <a:tc>
                  <a:txBody>
                    <a:bodyPr/>
                    <a:lstStyle/>
                    <a:p>
                      <a:pPr>
                        <a:defRPr sz="2400" b="0">
                          <a:solidFill>
                            <a:srgbClr val="15293C"/>
                          </a:solidFill>
                          <a:latin typeface="Calibri"/>
                        </a:defRPr>
                      </a:pPr>
                      <a:r>
                        <a:t>77.8</a:t>
                      </a:r>
                    </a:p>
                  </a:txBody>
                  <a:tcPr>
                    <a:solidFill>
                      <a:srgbClr val="F7F9FB"/>
                    </a:solidFill>
                  </a:tcPr>
                </a:tc>
                <a:tc>
                  <a:txBody>
                    <a:bodyPr/>
                    <a:lstStyle/>
                    <a:p>
                      <a:pPr>
                        <a:defRPr sz="2400" b="0">
                          <a:solidFill>
                            <a:srgbClr val="15293C"/>
                          </a:solidFill>
                          <a:latin typeface="Calibri"/>
                        </a:defRPr>
                      </a:pPr>
                      <a:r>
                        <a:t>2.4</a:t>
                      </a:r>
                    </a:p>
                  </a:txBody>
                  <a:tcPr>
                    <a:solidFill>
                      <a:srgbClr val="F7F9FB"/>
                    </a:solidFill>
                  </a:tcPr>
                </a:tc>
              </a:tr>
              <a:tr h="548640">
                <a:tc>
                  <a:txBody>
                    <a:bodyPr/>
                    <a:lstStyle/>
                    <a:p>
                      <a:pPr>
                        <a:defRPr sz="2400" b="0">
                          <a:solidFill>
                            <a:srgbClr val="15293C"/>
                          </a:solidFill>
                          <a:latin typeface="Calibri"/>
                        </a:defRPr>
                      </a:pPr>
                      <a:r>
                        <a:t>8</a:t>
                      </a:r>
                    </a:p>
                  </a:txBody>
                  <a:tcPr>
                    <a:solidFill>
                      <a:srgbClr val="F7F9FB"/>
                    </a:solidFill>
                  </a:tcPr>
                </a:tc>
                <a:tc>
                  <a:txBody>
                    <a:bodyPr/>
                    <a:lstStyle/>
                    <a:p>
                      <a:pPr>
                        <a:defRPr sz="2400" b="0">
                          <a:solidFill>
                            <a:srgbClr val="15293C"/>
                          </a:solidFill>
                          <a:latin typeface="Calibri"/>
                        </a:defRPr>
                      </a:pPr>
                      <a:r>
                        <a:t>114.2</a:t>
                      </a:r>
                    </a:p>
                  </a:txBody>
                  <a:tcPr>
                    <a:solidFill>
                      <a:srgbClr val="F7F9FB"/>
                    </a:solidFill>
                  </a:tcPr>
                </a:tc>
                <a:tc>
                  <a:txBody>
                    <a:bodyPr/>
                    <a:lstStyle/>
                    <a:p>
                      <a:pPr>
                        <a:defRPr sz="2400" b="0">
                          <a:solidFill>
                            <a:srgbClr val="15293C"/>
                          </a:solidFill>
                          <a:latin typeface="Calibri"/>
                        </a:defRPr>
                      </a:pPr>
                      <a:r>
                        <a:t>114.2</a:t>
                      </a:r>
                    </a:p>
                  </a:txBody>
                  <a:tcPr>
                    <a:solidFill>
                      <a:srgbClr val="F7F9FB"/>
                    </a:solidFill>
                  </a:tcPr>
                </a:tc>
                <a:tc>
                  <a:txBody>
                    <a:bodyPr/>
                    <a:lstStyle/>
                    <a:p>
                      <a:pPr>
                        <a:defRPr sz="2400" b="0">
                          <a:solidFill>
                            <a:srgbClr val="15293C"/>
                          </a:solidFill>
                          <a:latin typeface="Calibri"/>
                        </a:defRPr>
                      </a:pPr>
                      <a:r>
                        <a:t>0</a:t>
                      </a:r>
                    </a:p>
                  </a:txBody>
                  <a:tcPr>
                    <a:solidFill>
                      <a:srgbClr val="F7F9FB"/>
                    </a:solidFill>
                  </a:tcPr>
                </a:tc>
              </a:tr>
            </a:tbl>
          </a:graphicData>
        </a:graphic>
      </p:graphicFrame>
      <p:sp>
        <p:nvSpPr>
          <p:cNvPr id="5" name="TextBox 4"/>
          <p:cNvSpPr txBox="1"/>
          <p:nvPr/>
        </p:nvSpPr>
        <p:spPr>
          <a:xfrm>
            <a:off x="777240" y="4617720"/>
            <a:ext cx="10607040" cy="1645920"/>
          </a:xfrm>
          <a:prstGeom prst="rect">
            <a:avLst/>
          </a:prstGeom>
          <a:noFill/>
        </p:spPr>
        <p:txBody>
          <a:bodyPr wrap="square" lIns="27432" rIns="27432">
            <a:spAutoFit/>
          </a:bodyPr>
          <a:lstStyle/>
          <a:p>
            <a:pPr>
              <a:spcAft>
                <a:spcPts val="1400"/>
              </a:spcAft>
              <a:defRPr sz="2500" b="0">
                <a:solidFill>
                  <a:srgbClr val="15293C"/>
                </a:solidFill>
                <a:latin typeface="Calibri"/>
              </a:defRPr>
            </a:pPr>
            <a:r>
              <a:t>Five common-success pairs per count</a:t>
            </a:r>
          </a:p>
          <a:p>
            <a:pPr>
              <a:spcAft>
                <a:spcPts val="1400"/>
              </a:spcAft>
              <a:defRPr sz="2500" b="0">
                <a:solidFill>
                  <a:srgbClr val="15293C"/>
                </a:solidFill>
                <a:latin typeface="Calibri"/>
              </a:defRPr>
            </a:pPr>
            <a:r>
              <a:t>At six robots, higher mean cost accompanies a lower mean makespan</a:t>
            </a:r>
          </a:p>
          <a:p>
            <a:pPr>
              <a:spcAft>
                <a:spcPts val="1400"/>
              </a:spcAft>
              <a:defRPr sz="2500" b="0">
                <a:solidFill>
                  <a:srgbClr val="15293C"/>
                </a:solidFill>
                <a:latin typeface="Calibri"/>
              </a:defRPr>
            </a:pPr>
            <a:r>
              <a:t>The solver returns the first valid priority attempt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Tests safety validation and failures</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13</a:t>
            </a:r>
          </a:p>
        </p:txBody>
      </p:sp>
      <p:sp>
        <p:nvSpPr>
          <p:cNvPr id="4" name="TextBox 3"/>
          <p:cNvSpPr txBox="1"/>
          <p:nvPr/>
        </p:nvSpPr>
        <p:spPr>
          <a:xfrm>
            <a:off x="640080" y="1463040"/>
            <a:ext cx="10789920" cy="4572000"/>
          </a:xfrm>
          <a:prstGeom prst="rect">
            <a:avLst/>
          </a:prstGeom>
          <a:noFill/>
        </p:spPr>
        <p:txBody>
          <a:bodyPr wrap="square" lIns="27432" rIns="27432">
            <a:spAutoFit/>
          </a:bodyPr>
          <a:lstStyle/>
          <a:p>
            <a:pPr>
              <a:spcAft>
                <a:spcPts val="1400"/>
              </a:spcAft>
              <a:defRPr sz="2500" b="0">
                <a:solidFill>
                  <a:srgbClr val="15293C"/>
                </a:solidFill>
                <a:latin typeface="Calibri"/>
              </a:defRPr>
            </a:pPr>
            <a:r>
              <a:t>22 passed in 1.03s</a:t>
            </a:r>
          </a:p>
          <a:p>
            <a:pPr>
              <a:spcAft>
                <a:spcPts val="1400"/>
              </a:spcAft>
              <a:defRPr sz="2500" b="0">
                <a:solidFill>
                  <a:srgbClr val="15293C"/>
                </a:solidFill>
                <a:latin typeface="Calibri"/>
              </a:defRPr>
            </a:pPr>
            <a:r>
              <a:t>50 seeded maps checked against an independent BFS oracle</a:t>
            </a:r>
          </a:p>
          <a:p>
            <a:pPr>
              <a:spcAft>
                <a:spcPts val="1400"/>
              </a:spcAft>
              <a:defRPr sz="2500" b="0">
                <a:solidFill>
                  <a:srgbClr val="15293C"/>
                </a:solidFill>
                <a:latin typeface="Calibri"/>
              </a:defRPr>
            </a:pPr>
            <a:r>
              <a:t>Vertex, swap, following and permanent-goal tests</a:t>
            </a:r>
          </a:p>
          <a:p>
            <a:pPr>
              <a:spcAft>
                <a:spcPts val="1400"/>
              </a:spcAft>
              <a:defRPr sz="2500" b="0">
                <a:solidFill>
                  <a:srgbClr val="15293C"/>
                </a:solidFill>
                <a:latin typeface="Calibri"/>
              </a:defRPr>
            </a:pPr>
            <a:r>
              <a:t>Order-sensitive retry and bounded impossible corridor</a:t>
            </a:r>
          </a:p>
          <a:p>
            <a:pPr>
              <a:spcAft>
                <a:spcPts val="1400"/>
              </a:spcAft>
              <a:defRPr sz="2500" b="0">
                <a:solidFill>
                  <a:srgbClr val="15293C"/>
                </a:solidFill>
                <a:latin typeface="Calibri"/>
              </a:defRPr>
            </a:pPr>
            <a:r>
              <a:t>CLI, JSON reload, PNG and GIF export checks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Limits and future work</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14</a:t>
            </a:r>
          </a:p>
        </p:txBody>
      </p:sp>
      <p:sp>
        <p:nvSpPr>
          <p:cNvPr id="4" name="TextBox 3"/>
          <p:cNvSpPr txBox="1"/>
          <p:nvPr/>
        </p:nvSpPr>
        <p:spPr>
          <a:xfrm>
            <a:off x="640080" y="1463040"/>
            <a:ext cx="10789920" cy="4572000"/>
          </a:xfrm>
          <a:prstGeom prst="rect">
            <a:avLst/>
          </a:prstGeom>
          <a:noFill/>
        </p:spPr>
        <p:txBody>
          <a:bodyPr wrap="square" lIns="27432" rIns="27432">
            <a:spAutoFit/>
          </a:bodyPr>
          <a:lstStyle/>
          <a:p>
            <a:pPr>
              <a:spcAft>
                <a:spcPts val="1400"/>
              </a:spcAft>
              <a:defRPr sz="2500" b="0">
                <a:solidFill>
                  <a:srgbClr val="15293C"/>
                </a:solidFill>
                <a:latin typeface="Calibri"/>
              </a:defRPr>
            </a:pPr>
            <a:r>
              <a:t>Prioritized planning is incomplete and order-dependent</a:t>
            </a:r>
          </a:p>
          <a:p>
            <a:pPr>
              <a:spcAft>
                <a:spcPts val="1400"/>
              </a:spcAft>
              <a:defRPr sz="2500" b="0">
                <a:solidFill>
                  <a:srgbClr val="15293C"/>
                </a:solidFill>
                <a:latin typeface="Calibri"/>
              </a:defRPr>
            </a:pPr>
            <a:r>
              <a:t>The coordinator does not globally optimize cost or makespan</a:t>
            </a:r>
          </a:p>
          <a:p>
            <a:pPr>
              <a:spcAft>
                <a:spcPts val="1400"/>
              </a:spcAft>
              <a:defRPr sz="2500" b="0">
                <a:solidFill>
                  <a:srgbClr val="15293C"/>
                </a:solidFill>
                <a:latin typeface="Calibri"/>
              </a:defRPr>
            </a:pPr>
            <a:r>
              <a:t>Finite horizons and expansion limits can reject feasible cases</a:t>
            </a:r>
          </a:p>
          <a:p>
            <a:pPr>
              <a:spcAft>
                <a:spcPts val="1400"/>
              </a:spcAft>
              <a:defRPr sz="2500" b="0">
                <a:solidFill>
                  <a:srgbClr val="15293C"/>
                </a:solidFill>
                <a:latin typeface="Calibri"/>
              </a:defRPr>
            </a:pPr>
            <a:r>
              <a:t>Static shelves, point robots and centralized offline planning</a:t>
            </a:r>
          </a:p>
          <a:p>
            <a:pPr>
              <a:spcAft>
                <a:spcPts val="1400"/>
              </a:spcAft>
              <a:defRPr sz="2500" b="0">
                <a:solidFill>
                  <a:srgbClr val="15293C"/>
                </a:solidFill>
                <a:latin typeface="Calibri"/>
              </a:defRPr>
            </a:pPr>
            <a:r>
              <a:t>Future work: tiny-instance CBS and physical movement constraints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77240"/>
          </a:xfrm>
          <a:prstGeom prst="rect">
            <a:avLst/>
          </a:prstGeom>
          <a:noFill/>
        </p:spPr>
        <p:txBody>
          <a:bodyPr wrap="square" lIns="27432" rIns="27432">
            <a:spAutoFit/>
          </a:bodyPr>
          <a:lstStyle/>
          <a:p>
            <a:pPr>
              <a:spcAft>
                <a:spcPts val="1400"/>
              </a:spcAft>
              <a:defRPr sz="3200" b="1">
                <a:solidFill>
                  <a:srgbClr val="15293C"/>
                </a:solidFill>
                <a:latin typeface="Calibri"/>
              </a:defRPr>
            </a:pPr>
            <a:r>
              <a:t>Demonstrated findings and references</a:t>
            </a:r>
          </a:p>
        </p:txBody>
      </p:sp>
      <p:sp>
        <p:nvSpPr>
          <p:cNvPr id="3" name="TextBox 2"/>
          <p:cNvSpPr txBox="1"/>
          <p:nvPr/>
        </p:nvSpPr>
        <p:spPr>
          <a:xfrm>
            <a:off x="11247120" y="6601968"/>
            <a:ext cx="411480" cy="201168"/>
          </a:xfrm>
          <a:prstGeom prst="rect">
            <a:avLst/>
          </a:prstGeom>
          <a:noFill/>
        </p:spPr>
        <p:txBody>
          <a:bodyPr wrap="square" lIns="27432" rIns="27432">
            <a:spAutoFit/>
          </a:bodyPr>
          <a:lstStyle/>
          <a:p>
            <a:pPr>
              <a:spcAft>
                <a:spcPts val="1400"/>
              </a:spcAft>
              <a:defRPr sz="1000" b="0">
                <a:solidFill>
                  <a:srgbClr val="4B5A65"/>
                </a:solidFill>
                <a:latin typeface="Calibri"/>
              </a:defRPr>
            </a:pPr>
            <a:r>
              <a:t>15</a:t>
            </a:r>
          </a:p>
        </p:txBody>
      </p:sp>
      <p:sp>
        <p:nvSpPr>
          <p:cNvPr id="4" name="TextBox 3"/>
          <p:cNvSpPr txBox="1"/>
          <p:nvPr/>
        </p:nvSpPr>
        <p:spPr>
          <a:xfrm>
            <a:off x="640080" y="1463040"/>
            <a:ext cx="10789920" cy="4572000"/>
          </a:xfrm>
          <a:prstGeom prst="rect">
            <a:avLst/>
          </a:prstGeom>
          <a:noFill/>
        </p:spPr>
        <p:txBody>
          <a:bodyPr wrap="square" lIns="27432" rIns="27432">
            <a:spAutoFit/>
          </a:bodyPr>
          <a:lstStyle/>
          <a:p>
            <a:pPr>
              <a:spcAft>
                <a:spcPts val="1400"/>
              </a:spcAft>
              <a:defRPr sz="2500" b="0">
                <a:solidFill>
                  <a:srgbClr val="15293C"/>
                </a:solidFill>
                <a:latin typeface="Calibri"/>
              </a:defRPr>
            </a:pPr>
            <a:r>
              <a:t>Default six-robot wave safely finishes in 21 ticks</a:t>
            </a:r>
          </a:p>
          <a:p>
            <a:pPr>
              <a:spcAft>
                <a:spcPts val="1400"/>
              </a:spcAft>
              <a:defRPr sz="2500" b="0">
                <a:solidFill>
                  <a:srgbClr val="15293C"/>
                </a:solidFill>
                <a:latin typeface="Calibri"/>
              </a:defRPr>
            </a:pPr>
            <a:r>
              <a:t>Both coordinators solve all 20 aggregate samples safely</a:t>
            </a:r>
          </a:p>
          <a:p>
            <a:pPr>
              <a:spcAft>
                <a:spcPts val="1400"/>
              </a:spcAft>
              <a:defRPr sz="2500" b="0">
                <a:solidFill>
                  <a:srgbClr val="15293C"/>
                </a:solidFill>
                <a:latin typeface="Calibri"/>
              </a:defRPr>
            </a:pPr>
            <a:r>
              <a:t>Independent validation protects every complete returned plan</a:t>
            </a:r>
          </a:p>
          <a:p>
            <a:pPr>
              <a:spcAft>
                <a:spcPts val="1400"/>
              </a:spcAft>
              <a:defRPr sz="2500" b="0">
                <a:solidFill>
                  <a:srgbClr val="15293C"/>
                </a:solidFill>
                <a:latin typeface="Calibri"/>
              </a:defRPr>
            </a:pPr>
          </a:p>
          <a:p>
            <a:pPr>
              <a:spcAft>
                <a:spcPts val="1400"/>
              </a:spcAft>
              <a:defRPr sz="2500" b="0">
                <a:solidFill>
                  <a:srgbClr val="15293C"/>
                </a:solidFill>
                <a:latin typeface="Calibri"/>
              </a:defRPr>
            </a:pPr>
            <a:r>
              <a:t>Hart, Nilsson and Raphael (1968), DOI 10.1109/TSSC.1968.300136</a:t>
            </a:r>
          </a:p>
          <a:p>
            <a:pPr>
              <a:spcAft>
                <a:spcPts val="1400"/>
              </a:spcAft>
              <a:defRPr sz="2500" b="0">
                <a:solidFill>
                  <a:srgbClr val="15293C"/>
                </a:solidFill>
                <a:latin typeface="Calibri"/>
              </a:defRPr>
            </a:pPr>
            <a:r>
              <a:t>Silver (2005), DOI 10.1609/aiide.v1i1.18726</a:t>
            </a:r>
          </a:p>
          <a:p>
            <a:pPr>
              <a:spcAft>
                <a:spcPts val="1400"/>
              </a:spcAft>
              <a:defRPr sz="2500" b="0">
                <a:solidFill>
                  <a:srgbClr val="15293C"/>
                </a:solidFill>
                <a:latin typeface="Calibri"/>
              </a:defRPr>
            </a:pPr>
            <a:r>
              <a:t>Stern et al. (2019), arXiv:1906.08291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Warehouse Robot Coordination Using A* Search</dc:title>
  <dc:subject/>
  <dc:creator>[Student Name]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